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E0B4DAF-DC81-4808-B060-007A5008F28E}">
  <a:tblStyle styleId="{4E0B4DAF-DC81-4808-B060-007A5008F28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590ca285f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590ca285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590ca285f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590ca285f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590ca285f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590ca285f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90ca285f4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90ca285f4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90ca285f4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90ca285f4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590ca285f4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590ca285f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590ca285f4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590ca285f4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590ca285f4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590ca285f4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590ca285f4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590ca285f4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590ca285f4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590ca285f4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590ca285f4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590ca285f4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590ca285f4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590ca285f4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590ca285f4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590ca285f4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590ca285f4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590ca285f4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590ca285f4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590ca285f4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590ca285f4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590ca285f4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590ca285f4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590ca285f4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590ca285f4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590ca285f4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590ca285f4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590ca285f4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овый слайд">
  <p:cSld name="TITLE_AND_BODY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375047" y="93762"/>
            <a:ext cx="16326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44444"/>
              </a:buClr>
              <a:buSzPts val="1400"/>
              <a:buFont typeface="Arial"/>
              <a:buNone/>
              <a:defRPr sz="14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533"/>
              </a:buClr>
              <a:buSzPts val="1200"/>
              <a:buAutoNum type="arabicPeriod"/>
              <a:defRPr/>
            </a:lvl2pPr>
            <a:lvl3pPr indent="-3048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533"/>
              </a:buClr>
              <a:buSzPts val="1200"/>
              <a:buAutoNum type="arabicPeriod"/>
              <a:defRPr/>
            </a:lvl3pPr>
            <a:lvl4pPr indent="-3048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533"/>
              </a:buClr>
              <a:buSzPts val="1200"/>
              <a:buAutoNum type="arabicPeriod"/>
              <a:defRPr/>
            </a:lvl4pPr>
            <a:lvl5pPr indent="-3048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533"/>
              </a:buClr>
              <a:buSzPts val="1200"/>
              <a:buAutoNum type="arabicPeriod"/>
              <a:defRPr/>
            </a:lvl5pPr>
            <a:lvl6pPr indent="-3048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533"/>
              </a:buClr>
              <a:buSzPts val="1200"/>
              <a:buAutoNum type="arabicPeriod"/>
              <a:defRPr/>
            </a:lvl6pPr>
            <a:lvl7pPr indent="-3048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533"/>
              </a:buClr>
              <a:buSzPts val="1200"/>
              <a:buAutoNum type="arabicPeriod"/>
              <a:defRPr/>
            </a:lvl7pPr>
            <a:lvl8pPr indent="-3048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533"/>
              </a:buClr>
              <a:buSzPts val="1200"/>
              <a:buAutoNum type="arabicPeriod"/>
              <a:defRPr/>
            </a:lvl8pPr>
            <a:lvl9pPr indent="-3048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533"/>
              </a:buClr>
              <a:buSzPts val="1200"/>
              <a:buAutoNum type="arabicPeriod"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370582" y="287982"/>
            <a:ext cx="8403000" cy="7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1500188" y="1506885"/>
            <a:ext cx="6134700" cy="30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44444"/>
              </a:buClr>
              <a:buSzPts val="2300"/>
              <a:buFont typeface="Arial"/>
              <a:buNone/>
              <a:defRPr>
                <a:solidFill>
                  <a:srgbClr val="444444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44444"/>
              </a:buClr>
              <a:buSzPts val="2300"/>
              <a:buFont typeface="Arial"/>
              <a:buNone/>
              <a:defRPr sz="2300">
                <a:solidFill>
                  <a:srgbClr val="444444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44444"/>
              </a:buClr>
              <a:buSzPts val="2300"/>
              <a:buFont typeface="Arial"/>
              <a:buNone/>
              <a:defRPr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44444"/>
              </a:buClr>
              <a:buSzPts val="2300"/>
              <a:buFont typeface="Arial"/>
              <a:buNone/>
              <a:defRPr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44444"/>
              </a:buClr>
              <a:buSzPts val="2300"/>
              <a:buFont typeface="Arial"/>
              <a:buNone/>
              <a:defRPr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533"/>
              </a:buClr>
              <a:buSzPts val="1200"/>
              <a:buAutoNum type="arabicPeriod"/>
              <a:defRPr/>
            </a:lvl6pPr>
            <a:lvl7pPr indent="-3048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533"/>
              </a:buClr>
              <a:buSzPts val="1200"/>
              <a:buAutoNum type="arabicPeriod"/>
              <a:defRPr/>
            </a:lvl7pPr>
            <a:lvl8pPr indent="-3048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533"/>
              </a:buClr>
              <a:buSzPts val="1200"/>
              <a:buAutoNum type="arabicPeriod"/>
              <a:defRPr/>
            </a:lvl8pPr>
            <a:lvl9pPr indent="-3048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533"/>
              </a:buClr>
              <a:buSzPts val="1200"/>
              <a:buAutoNum type="arabicPeriod"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8764488" y="4889004"/>
            <a:ext cx="267900" cy="1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9450" lIns="58925" spcFirstLastPara="1" rIns="58925" wrap="square" tIns="2945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2300"/>
              <a:buFont typeface="Arial"/>
              <a:buNone/>
              <a:defRPr b="0" i="0" sz="2300" u="none" cap="none" strike="noStrike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2300"/>
              <a:buFont typeface="Arial"/>
              <a:buNone/>
              <a:defRPr b="0" i="0" sz="2300" u="none" cap="none" strike="noStrike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2300"/>
              <a:buFont typeface="Arial"/>
              <a:buNone/>
              <a:defRPr b="0" i="0" sz="2300" u="none" cap="none" strike="noStrike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2300"/>
              <a:buFont typeface="Arial"/>
              <a:buNone/>
              <a:defRPr b="0" i="0" sz="2300" u="none" cap="none" strike="noStrike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2300"/>
              <a:buFont typeface="Arial"/>
              <a:buNone/>
              <a:defRPr b="0" i="0" sz="2300" u="none" cap="none" strike="noStrike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2300"/>
              <a:buFont typeface="Arial"/>
              <a:buNone/>
              <a:defRPr b="0" i="0" sz="2300" u="none" cap="none" strike="noStrike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2300"/>
              <a:buFont typeface="Arial"/>
              <a:buNone/>
              <a:defRPr b="0" i="0" sz="2300" u="none" cap="none" strike="noStrike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2300"/>
              <a:buFont typeface="Arial"/>
              <a:buNone/>
              <a:defRPr b="0" i="0" sz="2300" u="none" cap="none" strike="noStrike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2300"/>
              <a:buFont typeface="Arial"/>
              <a:buNone/>
              <a:defRPr b="0" i="0" sz="2300" u="none" cap="none" strike="noStrike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овый слайд 1">
  <p:cSld name="TITLE_AND_BODY_2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375047" y="93762"/>
            <a:ext cx="16326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44444"/>
              </a:buClr>
              <a:buSzPts val="1400"/>
              <a:buFont typeface="Arial"/>
              <a:buNone/>
              <a:defRPr sz="14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533"/>
              </a:buClr>
              <a:buSzPts val="1200"/>
              <a:buAutoNum type="arabicPeriod"/>
              <a:defRPr/>
            </a:lvl2pPr>
            <a:lvl3pPr indent="-3048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533"/>
              </a:buClr>
              <a:buSzPts val="1200"/>
              <a:buAutoNum type="arabicPeriod"/>
              <a:defRPr/>
            </a:lvl3pPr>
            <a:lvl4pPr indent="-3048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533"/>
              </a:buClr>
              <a:buSzPts val="1200"/>
              <a:buAutoNum type="arabicPeriod"/>
              <a:defRPr/>
            </a:lvl4pPr>
            <a:lvl5pPr indent="-3048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533"/>
              </a:buClr>
              <a:buSzPts val="1200"/>
              <a:buAutoNum type="arabicPeriod"/>
              <a:defRPr/>
            </a:lvl5pPr>
            <a:lvl6pPr indent="-3048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533"/>
              </a:buClr>
              <a:buSzPts val="1200"/>
              <a:buAutoNum type="arabicPeriod"/>
              <a:defRPr/>
            </a:lvl6pPr>
            <a:lvl7pPr indent="-3048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533"/>
              </a:buClr>
              <a:buSzPts val="1200"/>
              <a:buAutoNum type="arabicPeriod"/>
              <a:defRPr/>
            </a:lvl7pPr>
            <a:lvl8pPr indent="-3048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533"/>
              </a:buClr>
              <a:buSzPts val="1200"/>
              <a:buAutoNum type="arabicPeriod"/>
              <a:defRPr/>
            </a:lvl8pPr>
            <a:lvl9pPr indent="-3048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533"/>
              </a:buClr>
              <a:buSzPts val="1200"/>
              <a:buAutoNum type="arabicPeriod"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type="title"/>
          </p:nvPr>
        </p:nvSpPr>
        <p:spPr>
          <a:xfrm>
            <a:off x="370582" y="287982"/>
            <a:ext cx="8403000" cy="7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2" type="body"/>
          </p:nvPr>
        </p:nvSpPr>
        <p:spPr>
          <a:xfrm>
            <a:off x="1500188" y="1506885"/>
            <a:ext cx="6134700" cy="30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44444"/>
              </a:buClr>
              <a:buSzPts val="2300"/>
              <a:buFont typeface="Arial"/>
              <a:buNone/>
              <a:defRPr>
                <a:solidFill>
                  <a:srgbClr val="444444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44444"/>
              </a:buClr>
              <a:buSzPts val="2300"/>
              <a:buFont typeface="Arial"/>
              <a:buNone/>
              <a:defRPr sz="2300">
                <a:solidFill>
                  <a:srgbClr val="444444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44444"/>
              </a:buClr>
              <a:buSzPts val="2300"/>
              <a:buFont typeface="Arial"/>
              <a:buNone/>
              <a:defRPr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44444"/>
              </a:buClr>
              <a:buSzPts val="2300"/>
              <a:buFont typeface="Arial"/>
              <a:buNone/>
              <a:defRPr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44444"/>
              </a:buClr>
              <a:buSzPts val="2300"/>
              <a:buFont typeface="Arial"/>
              <a:buNone/>
              <a:defRPr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533"/>
              </a:buClr>
              <a:buSzPts val="1200"/>
              <a:buAutoNum type="arabicPeriod"/>
              <a:defRPr/>
            </a:lvl6pPr>
            <a:lvl7pPr indent="-3048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533"/>
              </a:buClr>
              <a:buSzPts val="1200"/>
              <a:buAutoNum type="arabicPeriod"/>
              <a:defRPr/>
            </a:lvl7pPr>
            <a:lvl8pPr indent="-3048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533"/>
              </a:buClr>
              <a:buSzPts val="1200"/>
              <a:buAutoNum type="arabicPeriod"/>
              <a:defRPr/>
            </a:lvl8pPr>
            <a:lvl9pPr indent="-3048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533"/>
              </a:buClr>
              <a:buSzPts val="1200"/>
              <a:buAutoNum type="arabicPeriod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764488" y="4889004"/>
            <a:ext cx="267900" cy="1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9450" lIns="58925" spcFirstLastPara="1" rIns="58925" wrap="square" tIns="2945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2300"/>
              <a:buFont typeface="Arial"/>
              <a:buNone/>
              <a:defRPr b="0" i="0" sz="2300" u="none" cap="none" strike="noStrike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2300"/>
              <a:buFont typeface="Arial"/>
              <a:buNone/>
              <a:defRPr b="0" i="0" sz="2300" u="none" cap="none" strike="noStrike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2300"/>
              <a:buFont typeface="Arial"/>
              <a:buNone/>
              <a:defRPr b="0" i="0" sz="2300" u="none" cap="none" strike="noStrike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2300"/>
              <a:buFont typeface="Arial"/>
              <a:buNone/>
              <a:defRPr b="0" i="0" sz="2300" u="none" cap="none" strike="noStrike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2300"/>
              <a:buFont typeface="Arial"/>
              <a:buNone/>
              <a:defRPr b="0" i="0" sz="2300" u="none" cap="none" strike="noStrike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2300"/>
              <a:buFont typeface="Arial"/>
              <a:buNone/>
              <a:defRPr b="0" i="0" sz="2300" u="none" cap="none" strike="noStrike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2300"/>
              <a:buFont typeface="Arial"/>
              <a:buNone/>
              <a:defRPr b="0" i="0" sz="2300" u="none" cap="none" strike="noStrike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2300"/>
              <a:buFont typeface="Arial"/>
              <a:buNone/>
              <a:defRPr b="0" i="0" sz="2300" u="none" cap="none" strike="noStrike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2300"/>
              <a:buFont typeface="Arial"/>
              <a:buNone/>
              <a:defRPr b="0" i="0" sz="2300" u="none" cap="none" strike="noStrike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usehooks.com/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jsonplaceholder.typicode.com/user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Front-End Pro</a:t>
            </a:r>
            <a:endParaRPr/>
          </a:p>
        </p:txBody>
      </p:sp>
      <p:sp>
        <p:nvSpPr>
          <p:cNvPr id="65" name="Google Shape;65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/>
              <a:t>Заняття</a:t>
            </a:r>
            <a:r>
              <a:rPr i="1" lang="ru" sz="1800"/>
              <a:t> №28</a:t>
            </a:r>
            <a:endParaRPr i="1" sz="1800"/>
          </a:p>
        </p:txBody>
      </p:sp>
      <p:sp>
        <p:nvSpPr>
          <p:cNvPr id="66" name="Google Shape;66;p15"/>
          <p:cNvSpPr txBox="1"/>
          <p:nvPr/>
        </p:nvSpPr>
        <p:spPr>
          <a:xfrm>
            <a:off x="6756299" y="4612325"/>
            <a:ext cx="207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© </a:t>
            </a:r>
            <a:r>
              <a:rPr i="1" lang="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Максим </a:t>
            </a:r>
            <a:r>
              <a:rPr i="1" lang="ru" sz="1200">
                <a:latin typeface="Calibri"/>
                <a:ea typeface="Calibri"/>
                <a:cs typeface="Calibri"/>
                <a:sym typeface="Calibri"/>
              </a:rPr>
              <a:t>Бєлкін</a:t>
            </a:r>
            <a:endParaRPr i="1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Функціональні компоненти та hooks</a:t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464100" y="847675"/>
            <a:ext cx="8520600" cy="40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Звичайні функціональні компоненти за замовчуванням не мають свого стану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Але с хуками - інша справа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Хук - це спеціальна допоміжна функція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назва починається з use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розширює можливості функціональних компонентів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Історично, хукі з’явились давно, але в сьогоднішньому вигляді - з версією Реакт 16.8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Ідеологи Реакта вирішили перейти повністю на функціональний підхід з класових компонентів - на функціональні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легше, швидше, зручніше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useState</a:t>
            </a:r>
            <a:endParaRPr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useState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 </a:t>
            </a:r>
            <a:r>
              <a:rPr lang="ru" sz="14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'react'</a:t>
            </a:r>
            <a:endParaRPr sz="1400">
              <a:solidFill>
                <a:srgbClr val="CE917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default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Counter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[state, setState] = useState(defaultStateValue);</a:t>
            </a:r>
            <a:endParaRPr sz="14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ru" sz="14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counter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setCounter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] = 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useState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4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4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lang="ru" sz="14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Counter: </a:t>
            </a: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ru" sz="14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counter</a:t>
            </a: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ru" sz="14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lang="ru" sz="14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)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464100" y="47050"/>
            <a:ext cx="8520600" cy="46899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useState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 </a:t>
            </a:r>
            <a:r>
              <a:rPr lang="ru" sz="12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'react'</a:t>
            </a:r>
            <a:endParaRPr sz="1200">
              <a:solidFill>
                <a:srgbClr val="CE917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default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Counter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[state, setState] = useState(defaultStateValue);</a:t>
            </a:r>
            <a:endParaRPr sz="12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ru" sz="12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counter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setCounter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] = 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useState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2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handleIncrease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() </a:t>
            </a: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setCounter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2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counter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+ </a:t>
            </a:r>
            <a:r>
              <a:rPr lang="ru" sz="12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handleDecrease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() </a:t>
            </a: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setCounter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2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counter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- </a:t>
            </a:r>
            <a:r>
              <a:rPr lang="ru" sz="12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2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lang="ru" sz="12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12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ru" sz="12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Counter: </a:t>
            </a: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ru" sz="12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counter</a:t>
            </a: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12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ru" sz="12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12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button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"button"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onClick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handleIncrease</a:t>
            </a: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ru" sz="12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Plus</a:t>
            </a:r>
            <a:r>
              <a:rPr lang="ru" sz="12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button</a:t>
            </a:r>
            <a:r>
              <a:rPr lang="ru" sz="12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12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button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"button"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onClick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handleDecrease</a:t>
            </a: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ru" sz="12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Minus</a:t>
            </a:r>
            <a:r>
              <a:rPr lang="ru" sz="12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button</a:t>
            </a:r>
            <a:r>
              <a:rPr lang="ru" sz="12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2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lang="ru" sz="12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)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C586C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useEffect</a:t>
            </a:r>
            <a:endParaRPr/>
          </a:p>
        </p:txBody>
      </p:sp>
      <p:sp>
        <p:nvSpPr>
          <p:cNvPr id="89" name="Google Shape;89;p19"/>
          <p:cNvSpPr txBox="1"/>
          <p:nvPr>
            <p:ph idx="1" type="body"/>
          </p:nvPr>
        </p:nvSpPr>
        <p:spPr>
          <a:xfrm>
            <a:off x="464100" y="847675"/>
            <a:ext cx="8520600" cy="42330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useEffect, useState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 </a:t>
            </a:r>
            <a:r>
              <a:rPr lang="ru" sz="9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'react'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00">
              <a:solidFill>
                <a:srgbClr val="CE917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COURSES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{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BASIC: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'Basic'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PRO: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'Pro'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default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Course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ru" sz="9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course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9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setCourse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] = </a:t>
            </a:r>
            <a:r>
              <a:rPr lang="ru" sz="9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useState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9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COURSES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BASIC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useEffect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(() 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9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9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'render message'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});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9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9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Current mode: 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ru" sz="9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course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9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9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button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9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"button"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onClick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setCourse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9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COURSES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BASIC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9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ru" sz="9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COURSES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BASIC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9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button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9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button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9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"button"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onClick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setCourse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9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COURSES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PRO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9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ru" sz="9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COURSES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PRO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9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button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9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9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)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C586C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0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useEffect - [dependencies]</a:t>
            </a:r>
            <a:endParaRPr/>
          </a:p>
        </p:txBody>
      </p:sp>
      <p:sp>
        <p:nvSpPr>
          <p:cNvPr id="95" name="Google Shape;95;p20"/>
          <p:cNvSpPr txBox="1"/>
          <p:nvPr>
            <p:ph idx="1" type="body"/>
          </p:nvPr>
        </p:nvSpPr>
        <p:spPr>
          <a:xfrm>
            <a:off x="464100" y="847675"/>
            <a:ext cx="8520600" cy="42330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6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r>
              <a:rPr lang="ru" sz="6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useEffect, useState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 </a:t>
            </a:r>
            <a:r>
              <a:rPr lang="ru" sz="6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6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'react'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6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COURSES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{</a:t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6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BASIC: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6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'Basic'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6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PRO: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6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'Pro'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6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6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default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6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Course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ru" sz="6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school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6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setSchool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] = </a:t>
            </a:r>
            <a:r>
              <a:rPr lang="ru" sz="6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useState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6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'Hillel'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ru" sz="6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course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6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setCourse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] = </a:t>
            </a:r>
            <a:r>
              <a:rPr lang="ru" sz="6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useState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6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COURSES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6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BASIC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6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useEffect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(() 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6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6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6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'School has been changed'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}, [</a:t>
            </a:r>
            <a:r>
              <a:rPr lang="ru" sz="6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school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]);</a:t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6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6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lang="ru" sz="6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6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6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lang="ru" sz="6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6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6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ru" sz="6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6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  Current school: 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ru" sz="6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school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6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6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ru" sz="6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6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6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button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6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6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"button"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6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onClick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6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setSchool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6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'Hillel'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ru" sz="6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6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  Hillel</a:t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6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button</a:t>
            </a:r>
            <a:r>
              <a:rPr lang="ru" sz="6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6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6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button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6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6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"button"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6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onClick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6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setSchool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6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'Harvard'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ru" sz="6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6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  Harvard</a:t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6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button</a:t>
            </a:r>
            <a:r>
              <a:rPr lang="ru" sz="6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6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6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lang="ru" sz="6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6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6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lang="ru" sz="6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6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6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ru" sz="6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6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  Current: 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ru" sz="6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course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6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6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ru" sz="6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6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6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button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6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6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"button"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6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onClick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6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setCourse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6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COURSES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6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BASIC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ru" sz="6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6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ru" sz="6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COURSES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6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BASIC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6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6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button</a:t>
            </a:r>
            <a:r>
              <a:rPr lang="ru" sz="6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6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6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button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6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6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"button"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6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onClick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6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setCourse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6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COURSES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6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PRO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ru" sz="6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6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ru" sz="6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COURSES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6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PRO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6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6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button</a:t>
            </a:r>
            <a:r>
              <a:rPr lang="ru" sz="6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6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6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lang="ru" sz="6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6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6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lang="ru" sz="6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6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)</a:t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C586C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useEffect - componentDidMount</a:t>
            </a:r>
            <a:endParaRPr/>
          </a:p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464100" y="847675"/>
            <a:ext cx="8520600" cy="42330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useEffect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 </a:t>
            </a:r>
            <a:r>
              <a:rPr lang="ru" sz="12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'react'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default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Course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useEffect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(() </a:t>
            </a: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'Component Did Mount'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}, []);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2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lang="ru" sz="12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Hello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2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lang="ru" sz="12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)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C586C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2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Створення власних хуків</a:t>
            </a:r>
            <a:endParaRPr/>
          </a:p>
        </p:txBody>
      </p:sp>
      <p:sp>
        <p:nvSpPr>
          <p:cNvPr id="107" name="Google Shape;107;p22"/>
          <p:cNvSpPr txBox="1"/>
          <p:nvPr>
            <p:ph idx="1" type="body"/>
          </p:nvPr>
        </p:nvSpPr>
        <p:spPr>
          <a:xfrm>
            <a:off x="464100" y="847675"/>
            <a:ext cx="8520600" cy="40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 своїх кастомних хуках можна використовувати стандартні хуки Реакта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3"/>
              </a:rPr>
              <a:t>https://usehooks.com/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3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/>
              <a:t>Неконтрольовані компоненти (Uncontrolled Components)</a:t>
            </a:r>
            <a:endParaRPr sz="2400"/>
          </a:p>
        </p:txBody>
      </p:sp>
      <p:sp>
        <p:nvSpPr>
          <p:cNvPr id="113" name="Google Shape;113;p23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400"/>
              <a:t>Неконтрольовані компоненти у React</a:t>
            </a:r>
            <a:r>
              <a:rPr lang="ru" sz="1400"/>
              <a:t> – це ті, які зберігають свої власні дані і не керуються станом React компонента.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/>
              <a:t>Замість використання стану компонента для керування значеннями, ми використовуємо ref для безпосереднього доступу до DOM-елементів форми та їх значень.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/>
              <a:t>Робота з неконтрольованими компонентами для форм</a:t>
            </a:r>
            <a:endParaRPr sz="2400"/>
          </a:p>
        </p:txBody>
      </p:sp>
      <p:sp>
        <p:nvSpPr>
          <p:cNvPr id="119" name="Google Shape;119;p24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ru" sz="1400"/>
              <a:t>Зберігання даних</a:t>
            </a:r>
            <a:r>
              <a:rPr lang="ru" sz="1400"/>
              <a:t>: У неконтрольованих компонентах дані форми зберігаються безпосередньо в DOM, а не в стані компонента.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ru" sz="1400"/>
              <a:t>Використання ref</a:t>
            </a:r>
            <a:r>
              <a:rPr lang="ru" sz="1400"/>
              <a:t>: Для доступу до даних у неконтрольованих компонентах використовуються посилання refs, які дозволяють безпосередньо отримати доступ до значення елементів форми. Це робиться через створення ref з useRef і прив'язку цього ref до відповідного елемента форми.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ru" sz="1400"/>
              <a:t>Події форми</a:t>
            </a:r>
            <a:r>
              <a:rPr lang="ru" sz="1400"/>
              <a:t>: Ви можете обробляти події, такі як сабміт форми, використовуючи обробники подій та отримувати значення форми безпосередньо з елементів форми через ref.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ru" sz="1400"/>
              <a:t>Роль об'єкта event</a:t>
            </a:r>
            <a:r>
              <a:rPr lang="ru" sz="1400"/>
              <a:t>: Хоча основна ідея неконтрольованих компонентів полягає в тому, що React не контролює дані форми, ви все одно можете використовувати об'єкт event у своїх обробниках подій. Наприклад, при сабміті форми ви отримуєте об'єкт event в обробнику події handleSubmit, який дозволяє вам запобігти стандартній поведінці форми через event.preventDefault().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5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/>
              <a:t>Приклад неконтрольованого компонента</a:t>
            </a:r>
            <a:endParaRPr sz="2400"/>
          </a:p>
        </p:txBody>
      </p:sp>
      <p:sp>
        <p:nvSpPr>
          <p:cNvPr id="125" name="Google Shape;125;p25"/>
          <p:cNvSpPr txBox="1"/>
          <p:nvPr>
            <p:ph idx="1" type="body"/>
          </p:nvPr>
        </p:nvSpPr>
        <p:spPr>
          <a:xfrm>
            <a:off x="464100" y="847675"/>
            <a:ext cx="8520600" cy="42363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Uncontrolled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() 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handleSubmit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(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event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event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0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preventDefault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0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Доступ до значення поля через event.target.elements</a:t>
            </a:r>
            <a:endParaRPr sz="10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login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event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target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login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0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0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"Your login is: "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+ </a:t>
            </a:r>
            <a:r>
              <a:rPr lang="ru" sz="10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login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};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0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form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onSubmit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ru" sz="10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handleSubmit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ru" sz="10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10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10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"text"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10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"login"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placeholder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10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"Login"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10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10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button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10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"submit"</a:t>
            </a:r>
            <a:r>
              <a:rPr lang="ru" sz="10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Submit</a:t>
            </a:r>
            <a:r>
              <a:rPr lang="ru" sz="10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button</a:t>
            </a:r>
            <a:r>
              <a:rPr lang="ru" sz="10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0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form</a:t>
            </a:r>
            <a:r>
              <a:rPr lang="ru" sz="10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);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default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Uncontrolled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6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/>
              <a:t>Хук useRef </a:t>
            </a:r>
            <a:endParaRPr sz="2400"/>
          </a:p>
        </p:txBody>
      </p:sp>
      <p:sp>
        <p:nvSpPr>
          <p:cNvPr id="131" name="Google Shape;131;p26"/>
          <p:cNvSpPr txBox="1"/>
          <p:nvPr>
            <p:ph idx="1" type="body"/>
          </p:nvPr>
        </p:nvSpPr>
        <p:spPr>
          <a:xfrm>
            <a:off x="464100" y="820600"/>
            <a:ext cx="8520600" cy="6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/>
              <a:t>Хук useRef використовується у React для отримання прямого доступу до DOM-елементу або для зберігання будь-якої мутабельної інформації, яка не викликає перерендер компонента при її зміні.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32" name="Google Shape;132;p26"/>
          <p:cNvSpPr txBox="1"/>
          <p:nvPr>
            <p:ph idx="1" type="body"/>
          </p:nvPr>
        </p:nvSpPr>
        <p:spPr>
          <a:xfrm>
            <a:off x="513625" y="1443625"/>
            <a:ext cx="8520600" cy="36237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r>
              <a:rPr lang="ru" sz="8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useRef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 </a:t>
            </a:r>
            <a:r>
              <a:rPr lang="ru" sz="8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8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"react"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8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8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Uncontrolled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() </a:t>
            </a:r>
            <a:r>
              <a:rPr lang="ru" sz="8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8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8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8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loginRef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8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useRef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8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8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8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8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handleSubmit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(</a:t>
            </a:r>
            <a:r>
              <a:rPr lang="ru" sz="8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event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ru" sz="8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8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8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event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8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preventDefault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8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8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8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login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8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loginRef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8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current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8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8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8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8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8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"Your login is: "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+ </a:t>
            </a:r>
            <a:r>
              <a:rPr lang="ru" sz="8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login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8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};</a:t>
            </a:r>
            <a:endParaRPr sz="8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8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endParaRPr sz="8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8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8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form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8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onSubmit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8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ru" sz="8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handleSubmit</a:t>
            </a:r>
            <a:r>
              <a:rPr lang="ru" sz="8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ru" sz="8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8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8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8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8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8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"text"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8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8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"login"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8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placeholder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8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"Login"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8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ref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8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ru" sz="8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loginRef</a:t>
            </a:r>
            <a:r>
              <a:rPr lang="ru" sz="8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8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8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8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8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button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8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8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"submit"</a:t>
            </a:r>
            <a:r>
              <a:rPr lang="ru" sz="8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Submit</a:t>
            </a:r>
            <a:r>
              <a:rPr lang="ru" sz="8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ru" sz="8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button</a:t>
            </a:r>
            <a:r>
              <a:rPr lang="ru" sz="8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8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8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ru" sz="8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form</a:t>
            </a:r>
            <a:r>
              <a:rPr lang="ru" sz="8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8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);</a:t>
            </a:r>
            <a:endParaRPr sz="8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8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8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default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8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Uncontrolled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7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/>
              <a:t>useRef vs event</a:t>
            </a:r>
            <a:endParaRPr sz="2400"/>
          </a:p>
        </p:txBody>
      </p:sp>
      <p:graphicFrame>
        <p:nvGraphicFramePr>
          <p:cNvPr id="138" name="Google Shape;138;p27"/>
          <p:cNvGraphicFramePr/>
          <p:nvPr/>
        </p:nvGraphicFramePr>
        <p:xfrm>
          <a:off x="952500" y="895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{4E0B4DAF-DC81-4808-B060-007A5008F28E}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useRef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event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u="sng"/>
                        <a:t>Переваги:</a:t>
                      </a:r>
                      <a:endParaRPr u="sng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Забезпечує прямий доступ до DOM для задач фокусування чи вимірювання; спрощує випадки, де не потрібне слідкування за змінами.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u="sng"/>
                        <a:t>Переваги:</a:t>
                      </a:r>
                      <a:endParaRPr u="sng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/>
                        <a:t>Забезпечує легкий доступ до введених даних, сприяє декларативному коду.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u="sng"/>
                        <a:t>Недоліки:</a:t>
                      </a:r>
                      <a:endParaRPr u="sng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/>
                        <a:t>Може ускладнити управління станом та зробити код більш імперативним.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u="sng"/>
                        <a:t>Недоліки:</a:t>
                      </a:r>
                      <a:endParaRPr u="sng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Обмежений доступ до DOM без додаткового коду.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8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/>
              <a:t>Контрольовані компоненти (Controlled Components)</a:t>
            </a:r>
            <a:endParaRPr sz="2400"/>
          </a:p>
        </p:txBody>
      </p:sp>
      <p:sp>
        <p:nvSpPr>
          <p:cNvPr id="144" name="Google Shape;144;p28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400"/>
              <a:t>Контрольовані компоненти у React</a:t>
            </a:r>
            <a:r>
              <a:rPr lang="ru" sz="1400"/>
              <a:t> – це будь які елементи форми, стан яких прямо керується компонентом React.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/>
              <a:t>Це означає, що кожен раз, коли стан компонента змінюється, значення елемента форми оновлюється відповідно до цього стану.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/>
              <a:t>Метод setState використовується для оновлення стану, і новий стан відображається в елементі форми. Такий підхід забезпечує прямий контроль над компонентами форми.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/>
              <a:t>Приклад контрольованого компонента</a:t>
            </a:r>
            <a:endParaRPr sz="2400"/>
          </a:p>
        </p:txBody>
      </p:sp>
      <p:sp>
        <p:nvSpPr>
          <p:cNvPr id="150" name="Google Shape;150;p29"/>
          <p:cNvSpPr txBox="1"/>
          <p:nvPr>
            <p:ph idx="1" type="body"/>
          </p:nvPr>
        </p:nvSpPr>
        <p:spPr>
          <a:xfrm>
            <a:off x="464100" y="847675"/>
            <a:ext cx="8520600" cy="41118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r>
              <a:rPr lang="ru" sz="8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useState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 </a:t>
            </a:r>
            <a:r>
              <a:rPr lang="ru" sz="8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8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"react"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8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8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Controlled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() </a:t>
            </a:r>
            <a:r>
              <a:rPr lang="ru" sz="8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8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8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ru" sz="8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login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8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setLogin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] = </a:t>
            </a:r>
            <a:r>
              <a:rPr lang="ru" sz="8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useState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8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''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8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8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8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handleChange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(</a:t>
            </a:r>
            <a:r>
              <a:rPr lang="ru" sz="8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event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ru" sz="8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8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8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setLogin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8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event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8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target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8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8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8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8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8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handleSubmit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(</a:t>
            </a:r>
            <a:r>
              <a:rPr lang="ru" sz="8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event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ru" sz="8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8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8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event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8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preventDefault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8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8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8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8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"Your login is: "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+ </a:t>
            </a:r>
            <a:r>
              <a:rPr lang="ru" sz="8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login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8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};</a:t>
            </a:r>
            <a:endParaRPr sz="8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8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endParaRPr sz="8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8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8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form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8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onSubmit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8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ru" sz="8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handleSubmit</a:t>
            </a:r>
            <a:r>
              <a:rPr lang="ru" sz="8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ru" sz="8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8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8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8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8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8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"text"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8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8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"login"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8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8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ru" sz="8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login</a:t>
            </a:r>
            <a:r>
              <a:rPr lang="ru" sz="8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8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placeholder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8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"Login"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8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onChange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8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ru" sz="8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handleChange</a:t>
            </a:r>
            <a:r>
              <a:rPr lang="ru" sz="8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8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8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8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8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button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8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8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"submit"</a:t>
            </a:r>
            <a:r>
              <a:rPr lang="ru" sz="8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Submit</a:t>
            </a:r>
            <a:r>
              <a:rPr lang="ru" sz="8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ru" sz="8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button</a:t>
            </a:r>
            <a:r>
              <a:rPr lang="ru" sz="8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8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8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ru" sz="8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form</a:t>
            </a:r>
            <a:r>
              <a:rPr lang="ru" sz="8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8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);</a:t>
            </a:r>
            <a:endParaRPr sz="8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8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8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default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8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Controlled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800">
              <a:solidFill>
                <a:srgbClr val="C586C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0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/>
              <a:t>Контрольовані компоненти</a:t>
            </a:r>
            <a:endParaRPr sz="2400"/>
          </a:p>
        </p:txBody>
      </p:sp>
      <p:graphicFrame>
        <p:nvGraphicFramePr>
          <p:cNvPr id="156" name="Google Shape;156;p30"/>
          <p:cNvGraphicFramePr/>
          <p:nvPr/>
        </p:nvGraphicFramePr>
        <p:xfrm>
          <a:off x="952500" y="895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{4E0B4DAF-DC81-4808-B060-007A5008F28E}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Переваги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Недоліки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ru"/>
                        <a:t>Миттєвий доступ до значення поля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ru"/>
                        <a:t>Можливість валідації при введенні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ru"/>
                        <a:t>Централізоване керування даними форми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ru"/>
                        <a:t>Легке скидання або зміна значень програмно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ru"/>
                        <a:t>Легка інтеграція з бібліотеками для управління станом (наприклад, Redux, Formik)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ru"/>
                        <a:t>Потребує більше коду порівняно з неконтрольованими компонентами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ru"/>
                        <a:t>Необхідність створення обробника для кожного поля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ru"/>
                        <a:t>Додаткові ре-рендери при кожній зміні значення, що може вплинути на продуктивність у великих формах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1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/>
              <a:t>Типові випадки використання</a:t>
            </a:r>
            <a:endParaRPr sz="2400"/>
          </a:p>
        </p:txBody>
      </p:sp>
      <p:sp>
        <p:nvSpPr>
          <p:cNvPr id="162" name="Google Shape;162;p31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400"/>
              <a:t>Форми з валідацією при введенні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400"/>
              <a:t>Динамічні форми зі взаємозалежними полями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400"/>
              <a:t>Форми з автоматичним форматуванням введення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Телефон, номер картки, і т.д.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400"/>
              <a:t>Форми з динамічним підвантаженням даних або залежними полями</a:t>
            </a:r>
            <a:endParaRPr sz="1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2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/>
              <a:t>Коли використовувати контрольовані компоненти</a:t>
            </a:r>
            <a:endParaRPr sz="2400"/>
          </a:p>
        </p:txBody>
      </p:sp>
      <p:sp>
        <p:nvSpPr>
          <p:cNvPr id="168" name="Google Shape;168;p32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ru" sz="1400"/>
              <a:t>Дані форми потребують негайної валідації</a:t>
            </a:r>
            <a:r>
              <a:rPr lang="ru" sz="1400"/>
              <a:t>: Контрольовані компоненти ідеально підходять для сценаріїв, де потрібно валідувати введення користувача в реальному часі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ru" sz="1400"/>
              <a:t>Динамічне змінення введених даних</a:t>
            </a:r>
            <a:r>
              <a:rPr lang="ru" sz="1400"/>
              <a:t>: Якщо вам потрібно змінювати введення на основі інших дій у формі (наприклад, автоматичне форматування номера телефону), контрольовані компоненти дадуть кращий контроль.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ru" sz="1400"/>
              <a:t>Поділ стану між кількома компонентами</a:t>
            </a:r>
            <a:r>
              <a:rPr lang="ru" sz="1400"/>
              <a:t>: Контрольовані компоненти краще підходять, коли стан форми потрібно поділити між декількома компонентами або використовувати дані форми в інших частинах додатку.</a:t>
            </a:r>
            <a:endParaRPr sz="1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3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/>
              <a:t>Коли використовувати неконтрольовані компоненти</a:t>
            </a:r>
            <a:endParaRPr sz="2400"/>
          </a:p>
        </p:txBody>
      </p:sp>
      <p:sp>
        <p:nvSpPr>
          <p:cNvPr id="174" name="Google Shape;174;p33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ru" sz="1400"/>
              <a:t>Інтеграція зі сторонніми DOM-бібліотеками</a:t>
            </a:r>
            <a:r>
              <a:rPr lang="ru" sz="1400"/>
              <a:t>: Якщо ви інтегруєте React з не-React бібліотеками, які керують власним станом, неконтрольовані компоненти можуть спростити інтеграцію.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ru" sz="1400"/>
              <a:t>Менш складні форми</a:t>
            </a:r>
            <a:r>
              <a:rPr lang="ru" sz="1400"/>
              <a:t>: Для простих форм, які не вимагають тісної взаємодії або валідації на клієнтській стороні, використання неконтрольованих компонентів може зменшити кількість коду та підвищити продуктивність.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ru" sz="1400"/>
              <a:t>Більш швидка обробка великих форм</a:t>
            </a:r>
            <a:r>
              <a:rPr lang="ru" sz="1400"/>
              <a:t>: У деяких випадках, особливо з великими формами, неконтрольовані компоненти можуть працювати швидше, оскільки вони зменшують кількість рендерингів та оновлень стану.</a:t>
            </a:r>
            <a:endParaRPr sz="1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4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Домашнє завдання</a:t>
            </a:r>
            <a:endParaRPr/>
          </a:p>
        </p:txBody>
      </p:sp>
      <p:sp>
        <p:nvSpPr>
          <p:cNvPr id="180" name="Google Shape;180;p34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/>
              <a:t>Реалізувати просту телефонну книгу</a:t>
            </a:r>
            <a:endParaRPr sz="1300"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ru" sz="1300"/>
              <a:t>Додаток складається із 2 частин: Список контактів та форма додавання контакту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 sz="1300"/>
              <a:t>Переключення між частинами через кнопки/посилання зверху сторінки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ru" sz="1300"/>
              <a:t>реалізувати “роутінг” через state кореневого компонента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 sz="1300"/>
              <a:t>На сторінці Contacts є таблиця з 4 колонками (Ім’я, Прізвище, Телефон, Дії)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 sz="1300"/>
              <a:t>В таблиці відобразити список контактів. В кожному рядку контакта є кнопка “видалити”, яка видаляє контакт </a:t>
            </a:r>
            <a:r>
              <a:rPr i="1" lang="ru" sz="1300"/>
              <a:t>(видалення робимо опціонально, якщо вистачить часу)</a:t>
            </a:r>
            <a:endParaRPr i="1"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 sz="1300"/>
              <a:t>На сторінці додавання контакта - форма. В формі три поля для введення користувацьких даних і дві кнопки (Зберегти та Відміна). 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ru" sz="1300"/>
              <a:t>Зберегти - зберігає контакт і повертає нас на сторінку із списком контактів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ru" sz="1300"/>
              <a:t>Відміна - просто повертає нас на список контактів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i="1" lang="ru" sz="1300"/>
              <a:t>Опціонально: розробити функціонал редагування контактів (кнопка “редагувати” біля кнопки “видалити”</a:t>
            </a:r>
            <a:endParaRPr i="1" sz="13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300"/>
              <a:t>Дані для дефолтних записів можна взяти з API: </a:t>
            </a:r>
            <a:r>
              <a:rPr lang="ru" sz="1300" u="sng">
                <a:solidFill>
                  <a:schemeClr val="hlink"/>
                </a:solidFill>
                <a:hlinkClick r:id="rId3"/>
              </a:rPr>
              <a:t>https://jsonplaceholder.typicode.com/users</a:t>
            </a:r>
            <a:endParaRPr sz="13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