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A03DAC-A35B-4E50-964E-52DA590D10DD}">
  <a:tblStyle styleId="{F1A03DAC-A35B-4E50-964E-52DA590D10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cbafae4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cbafae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703c1254e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703c1254e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703c1254e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703c1254e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703c1254e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703c1254e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703c1254e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703c1254e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703c1254e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703c1254e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703c1254e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703c1254e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5703c1254e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5703c1254e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703c1254e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703c1254e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703c1254e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703c1254e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703c1254e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703c1254e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703c1254e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703c1254e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703c1254e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703c1254e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703c1254e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703c1254e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703c1254e_0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5703c1254e_0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703c1254e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703c1254e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703c1254e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703c1254e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703c1254e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703c1254e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703c1254e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703c1254e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703c1254e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703c1254e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5703c1254e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5703c1254e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703c1254e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5703c1254e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703c1254e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703c1254e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703c1254e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703c1254e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703c1254e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703c1254e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703c1254e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703c1254e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5703c1254e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5703c1254e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703c1254e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703c1254e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3bc75c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3bc75c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4ffa4e4e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4ffa4e4e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4ffa4e4e5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4ffa4e4e5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4ffa4e4e5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4ffa4e4e5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107988c7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107988c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d45a1504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d45a1504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d45a150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d45a150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d45a150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d45a150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d45a150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d45a150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d45a1504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d45a1504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d45a1504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d45a1504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5703c1254e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5703c1254e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703c1254e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703c1254e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5703c1254e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5703c1254e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703c1254e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703c1254e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indent="0" lvl="2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indent="0" lvl="3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indent="0" lvl="4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indent="0" lvl="5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indent="0" lvl="6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indent="0" lvl="7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indent="0" lvl="8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 слайд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75047" y="93762"/>
            <a:ext cx="1632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None/>
              <a:defRPr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70582" y="287982"/>
            <a:ext cx="8403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1500188" y="1506885"/>
            <a:ext cx="6134700" cy="30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>
                <a:solidFill>
                  <a:srgbClr val="44444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64488" y="4889004"/>
            <a:ext cx="2679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 слайд 1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75047" y="93762"/>
            <a:ext cx="1632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None/>
              <a:defRPr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370582" y="287982"/>
            <a:ext cx="8403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1500188" y="1506885"/>
            <a:ext cx="6134700" cy="30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>
                <a:solidFill>
                  <a:srgbClr val="44444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764488" y="4889004"/>
            <a:ext cx="2679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 слайд 2">
  <p:cSld name="TITLE_AND_BODY_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75047" y="93762"/>
            <a:ext cx="1632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None/>
              <a:defRPr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70582" y="287982"/>
            <a:ext cx="8403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1500188" y="1506885"/>
            <a:ext cx="6134700" cy="30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>
                <a:solidFill>
                  <a:srgbClr val="44444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764488" y="4889004"/>
            <a:ext cx="2679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 слайд 3">
  <p:cSld name="TITLE_AND_BODY_4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75047" y="93762"/>
            <a:ext cx="16326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1400"/>
              <a:buFont typeface="Arial"/>
              <a:buNone/>
              <a:defRPr sz="1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70582" y="287982"/>
            <a:ext cx="84030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1500188" y="1506885"/>
            <a:ext cx="6134700" cy="30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>
                <a:solidFill>
                  <a:srgbClr val="444444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44444"/>
              </a:buClr>
              <a:buSzPts val="2300"/>
              <a:buFont typeface="Arial"/>
              <a:buNone/>
              <a:defRPr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52533"/>
              </a:buClr>
              <a:buSzPts val="1200"/>
              <a:buAutoNum type="arabicPeriod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764488" y="4889004"/>
            <a:ext cx="2679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34343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2" type="body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8" name="Google Shape;118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4" name="Google Shape;134;p2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7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node.green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156" name="Google Shape;156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</a:t>
            </a:r>
            <a:r>
              <a:rPr i="1" lang="ru" sz="1800"/>
              <a:t> №25</a:t>
            </a:r>
            <a:endParaRPr i="1" sz="1800"/>
          </a:p>
        </p:txBody>
      </p:sp>
      <p:sp>
        <p:nvSpPr>
          <p:cNvPr id="157" name="Google Shape;157;p30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350" y="503575"/>
            <a:ext cx="7283302" cy="433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Введення в серверні технології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0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491175" y="13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Сервер</a:t>
            </a:r>
            <a:endParaRPr/>
          </a:p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491175" y="842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Сервер - це відокремлений спеціалізований комп’ютер для виконання сервісного програмного забезпечення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Сервер - це такий комп’ютер, що працює без безпосередньої інтеракції з користувачем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Серверу не обов’язково мати візуальний інтерфейс - взаємодія з адміністратором відбувається через CLI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type="title"/>
          </p:nvPr>
        </p:nvSpPr>
        <p:spPr>
          <a:xfrm>
            <a:off x="491175" y="13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Популярні веб-сервери</a:t>
            </a:r>
            <a:endParaRPr/>
          </a:p>
        </p:txBody>
      </p:sp>
      <p:sp>
        <p:nvSpPr>
          <p:cNvPr id="184" name="Google Shape;184;p35"/>
          <p:cNvSpPr txBox="1"/>
          <p:nvPr>
            <p:ph idx="1" type="body"/>
          </p:nvPr>
        </p:nvSpPr>
        <p:spPr>
          <a:xfrm>
            <a:off x="491175" y="842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Apache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Nginx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Microsoft IIS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Cloudflare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Node.js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Серверні мови програмування</a:t>
            </a:r>
            <a:endParaRPr/>
          </a:p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PHP, Perl, Python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Ruby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Golang, 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C#/.NET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Java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JavaScript/Node.js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900" y="374650"/>
            <a:ext cx="7811899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MERN</a:t>
            </a:r>
            <a:endParaRPr/>
          </a:p>
        </p:txBody>
      </p:sp>
      <p:sp>
        <p:nvSpPr>
          <p:cNvPr id="201" name="Google Shape;201;p3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MongoDB</a:t>
            </a:r>
            <a:r>
              <a:rPr lang="ru"/>
              <a:t>: нереляційна база даних, яка використовує формат JSON для зберігання даних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Express.js</a:t>
            </a:r>
            <a:r>
              <a:rPr lang="ru"/>
              <a:t>: мінімалістичний фреймворк для Node.js, який спрощує розробку серверної частини додатків за допомогою маршрутизації та middlewares.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React</a:t>
            </a:r>
            <a:r>
              <a:rPr lang="ru"/>
              <a:t>: бібліотека від Facebook для створення інтерфейсів користувача, яка дозволяє розробникам будувати швидкі та інтерактивні веб-додатки.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/>
              <a:t>Node.js</a:t>
            </a:r>
            <a:r>
              <a:rPr lang="ru"/>
              <a:t>: JavaScript середовище виконання на сервері, яке дозволяє використовувати JavaScript для розробки серверної частини додатків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Node.js</a:t>
            </a:r>
            <a:endParaRPr/>
          </a:p>
        </p:txBody>
      </p:sp>
      <p:sp>
        <p:nvSpPr>
          <p:cNvPr id="207" name="Google Shape;207;p3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Node.js - це відкрита платформа, призначена для виконання JavaScript поза межами веб-браузера. Ми використовуємо її для розробки різноманітних додатків: від CLI-утіліт до повноцінних веб-серверів.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08" name="Google Shape;2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475" y="1999497"/>
            <a:ext cx="4161025" cy="25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Що можна робити з Node.js?</a:t>
            </a:r>
            <a:endParaRPr/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Розробка веб-серверів та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Інструменти командного рядка (CLI-utilities)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Взаємодія з базами даних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Стрімінг даних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Мікросервісна архітектура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Інтеграція із зовнішніми сервісами (API)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Автоматизація та скриптинг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Складові Node.js</a:t>
            </a:r>
            <a:endParaRPr/>
          </a:p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Двигун V8</a:t>
            </a:r>
            <a:r>
              <a:rPr lang="ru" sz="1600"/>
              <a:t> - серце Node.js, що виконує JavaScript поза браузером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Libuv</a:t>
            </a:r>
            <a:r>
              <a:rPr lang="ru" sz="1600"/>
              <a:t> - Крос-платформенна бібліотека підтримки, що забезпечує Node.js асинхронне виконання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Цикл подій (Event Loop)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Система модулів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Менеджери пакетів (npm)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Вбудовані модулі</a:t>
            </a:r>
            <a:r>
              <a:rPr lang="ru" sz="1600"/>
              <a:t> - пепередньо визначені пакети, що забезпечують функціональність для роботи із файловою системою, мережевими запитами, обробкою потоків і т.д.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Буфери</a:t>
            </a:r>
            <a:r>
              <a:rPr lang="ru" sz="1600"/>
              <a:t> - структури даних для роботи із бінарними даними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Потоки (Streams)</a:t>
            </a:r>
            <a:r>
              <a:rPr lang="ru" sz="1600"/>
              <a:t> - інструменти оптимізації для роботи із потоками даних, корисні для ефективного читання та запису великих об’ємів даних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Сервер HTTP</a:t>
            </a:r>
            <a:endParaRPr b="1"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Вбудовані модулі Node.js</a:t>
            </a:r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HTTP</a:t>
            </a:r>
            <a:r>
              <a:rPr lang="ru" sz="1600"/>
              <a:t> - модуль для створення веб-сервера та обробки запитів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File System (fs)</a:t>
            </a:r>
            <a:r>
              <a:rPr lang="ru" sz="1600"/>
              <a:t> - модуль для роботи із файловою системою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Path</a:t>
            </a:r>
            <a:r>
              <a:rPr lang="ru" sz="1600"/>
              <a:t> - модуль для роботи із шляхами файлів та папок, що забезбечує кросплатформову роботу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Events (EventEmitter)</a:t>
            </a:r>
            <a:r>
              <a:rPr lang="ru" sz="1600"/>
              <a:t> - реалізація патерна Observer, для створення користувацьких подій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Stream</a:t>
            </a:r>
            <a:r>
              <a:rPr lang="ru" sz="1600"/>
              <a:t> - модуль для ефективної роботи із потоками даних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URL</a:t>
            </a:r>
            <a:r>
              <a:rPr lang="ru" sz="1600"/>
              <a:t> - дозволяє розбирати, будувати, нормалізовувати та декодувати адреси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OS (Operating System)</a:t>
            </a:r>
            <a:r>
              <a:rPr lang="ru" sz="1600"/>
              <a:t> - інструменти для взаємодією із операційною системою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Crypto</a:t>
            </a:r>
            <a:r>
              <a:rPr lang="ru" sz="1600"/>
              <a:t> - забезпечує криптографічні функції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Buffer</a:t>
            </a:r>
            <a:r>
              <a:rPr lang="ru" sz="1600"/>
              <a:t> - надає структури даних для роботи із бінарними даними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Worker Threads</a:t>
            </a:r>
            <a:r>
              <a:rPr lang="ru" sz="1600"/>
              <a:t> - модуль для паралельного виконання коду. Розподілена обробка даних для багатоядерних процесорів.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Архітектура Node.js</a:t>
            </a:r>
            <a:endParaRPr/>
          </a:p>
        </p:txBody>
      </p:sp>
      <p:sp>
        <p:nvSpPr>
          <p:cNvPr id="232" name="Google Shape;232;p4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/>
              <a:t>Архітектура</a:t>
            </a:r>
            <a:r>
              <a:rPr lang="ru" sz="1600"/>
              <a:t> Node.js базується на однопотоковому циклі подій (Event Loop), який підтримує асинхронні операції.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ru" sz="1600"/>
              <a:t>Модульна система</a:t>
            </a:r>
            <a:r>
              <a:rPr lang="ru" sz="1600"/>
              <a:t> Node.js дозволяє легко інтегрувати сторонні бібліотеки та пакети через npm (Node Package Manager).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Архітектура Node.js</a:t>
            </a:r>
            <a:endParaRPr/>
          </a:p>
        </p:txBody>
      </p:sp>
      <p:pic>
        <p:nvPicPr>
          <p:cNvPr id="238" name="Google Shape;23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463" y="712925"/>
            <a:ext cx="7221873" cy="412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Основні характеристики архітектури Node.js</a:t>
            </a:r>
            <a:endParaRPr/>
          </a:p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Однопотоковість з циклом подій</a:t>
            </a:r>
            <a:r>
              <a:rPr lang="ru" sz="1400"/>
              <a:t>: Node.js використовує однопотокову модель з асинхронними операціями, що дозволяє обробляти численні завдання одночасно без блокування.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Асинхронність та неблокуючий ввід/вивід</a:t>
            </a:r>
            <a:r>
              <a:rPr lang="ru" sz="1400"/>
              <a:t>: Операції ініціюються та виконання коду продовжується, повертаючись до операцій після їх завершення, завдяки циклу подій.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Модульна система та npm</a:t>
            </a:r>
            <a:r>
              <a:rPr lang="ru" sz="1400"/>
              <a:t>: Сторонні бібліотеки та пакети легко інтегруються за допомогою модульної системи та NPM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Використання двигуна V8 від Google</a:t>
            </a:r>
            <a:r>
              <a:rPr lang="ru" sz="1400"/>
              <a:t>: Висока продуктивність виконання коду досягається завдяки оптимізаціям двигуна V8.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Масштабованість та ефективність</a:t>
            </a:r>
            <a:r>
              <a:rPr lang="ru" sz="1400"/>
              <a:t>: Архітектура Node.js підтримує легке масштабування додатків, що робить її ідеальною для мережевих програм із великою кількістю з'єднань.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ru" sz="1400"/>
              <a:t>Багатофункціональність</a:t>
            </a:r>
            <a:r>
              <a:rPr lang="ru" sz="1400"/>
              <a:t>: Node.js надає багатий набір вбудованих модулів для роботи з мережами, файловими системами та іншими компонентами.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Libuv</a:t>
            </a:r>
            <a:endParaRPr/>
          </a:p>
        </p:txBody>
      </p:sp>
      <p:sp>
        <p:nvSpPr>
          <p:cNvPr id="250" name="Google Shape;250;p4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Libuv - це крос-платформна бібліотека підтримки (написана на мові програмування C++), яка забезпечує асинхронний ввід-вивід на основі подій. Вона допомагає управляти циклом подій та роботою з файловою системою.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600"/>
              <a:t>Libuv також надає обробку мережевих операцій, таймерів, дочірніх процесів та інших низькорівневих можливостей, що є важливими для Node.js.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600"/>
              <a:t>Завдяки libuv, Node.js може ефективно обробляти багато асинхронних операцій одночасно.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Основні компоненти libuv</a:t>
            </a:r>
            <a:endParaRPr/>
          </a:p>
        </p:txBody>
      </p:sp>
      <p:sp>
        <p:nvSpPr>
          <p:cNvPr id="256" name="Google Shape;256;p4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Цикл подій</a:t>
            </a:r>
            <a:r>
              <a:rPr lang="ru" sz="1400"/>
              <a:t> (Event Loop): Центральний механізм, який координує всі асинхронні операції. Він постійно перевіряє наявність завершених операцій у різних чергах та викликає відповідні функції зворотного виклику.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Асинхронні операції</a:t>
            </a:r>
            <a:r>
              <a:rPr lang="ru" sz="1400"/>
              <a:t>: Забезпечення неблокуючого доступу до файлової системи, мережевих операцій (TCP/UDP, DNS-резолвінг), міжпроцесної комунікації, системних таймерів та сигналів.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Пул потоків</a:t>
            </a:r>
            <a:r>
              <a:rPr lang="ru" sz="1400"/>
              <a:t>: Управління групою потоків для виконання блокуючих операцій без блокування головного циклу подій. За замовчуванням складається з 4 потоків, розмір можна налаштувати через UV_THREADPOOL_SIZE.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Кросплатформна абстракція</a:t>
            </a:r>
            <a:r>
              <a:rPr lang="ru" sz="1400"/>
              <a:t>: Єдиний API для різних операційних систем. На Windows використовується IOCP (Input/Output Completion Ports), на Unix/Linux -epoll, на macOS - kqueue, на SunOS - event ports.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ru" sz="1400"/>
              <a:t>Взаємодія з компонентами</a:t>
            </a:r>
            <a:r>
              <a:rPr lang="ru" sz="1400"/>
              <a:t>: Забезпечення інтеграції з JavaScript через Node.js API, координації з V8 для виконання колбеків та управління системними ресурсами та їх вивільненням.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Browser JavaScript vs Node.js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Основні відмінності між JS у браузері та Node.js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Середовище виконання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Сфера застосування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Життєвий цикл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Доступ до системних ресурсів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Модульна система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Node.js vs Браузер</a:t>
            </a:r>
            <a:endParaRPr/>
          </a:p>
        </p:txBody>
      </p:sp>
      <p:graphicFrame>
        <p:nvGraphicFramePr>
          <p:cNvPr id="273" name="Google Shape;273;p50"/>
          <p:cNvGraphicFramePr/>
          <p:nvPr/>
        </p:nvGraphicFramePr>
        <p:xfrm>
          <a:off x="941213" y="115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{F1A03DAC-A35B-4E50-964E-52DA590D10DD}</a:tableStyleId>
              </a:tblPr>
              <a:tblGrid>
                <a:gridCol w="2522125"/>
                <a:gridCol w="2522125"/>
                <a:gridCol w="25221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Браузер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/>
                        <a:t>Node.js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Глобальна змінна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window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global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Взаємодія з ОС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Нет (только через WebAPI)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Есть (os, fs и другие)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Сумісність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Babel для транспайлінгу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Заздалегідь відома версія для якою розробляємо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Модулі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ES Modules (підтримка не повна)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CommonJS, ES Modules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Середовище виконання</a:t>
            </a:r>
            <a:endParaRPr/>
          </a:p>
        </p:txBody>
      </p:sp>
      <p:sp>
        <p:nvSpPr>
          <p:cNvPr id="279" name="Google Shape;279;p51"/>
          <p:cNvSpPr txBox="1"/>
          <p:nvPr>
            <p:ph idx="1" type="body"/>
          </p:nvPr>
        </p:nvSpPr>
        <p:spPr>
          <a:xfrm>
            <a:off x="4641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Браузер забезпечує виконання JavaScript в ізольованому середовищі з обмеженим доступом до API та об'єктів, пов'язаних з веб-сторінкою.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600"/>
              <a:t>Node.js надає повний доступ до системних ресурсів та можливостей операційної системи.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Сфера застосування</a:t>
            </a:r>
            <a:endParaRPr/>
          </a:p>
        </p:txBody>
      </p:sp>
      <p:sp>
        <p:nvSpPr>
          <p:cNvPr id="285" name="Google Shape;285;p5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Браузерний JavaScript призначений для маніпуляцій з DOM, обробки подій користувача та створення клієнтських веб-додатків.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Node.js використовується для розробки серверних додатків, інструментів командного рядка, API та мережевих утиліт.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Життєвий цикл</a:t>
            </a:r>
            <a:endParaRPr/>
          </a:p>
        </p:txBody>
      </p:sp>
      <p:sp>
        <p:nvSpPr>
          <p:cNvPr id="291" name="Google Shape;291;p5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Браузерний JavaScript залежить від стану веб-сторінки та може бути перезавантажений разом з нею.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Node.js-додаток працює як окремий процес до явного завершення або збою.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Доступ до системних ресурсів</a:t>
            </a:r>
            <a:endParaRPr/>
          </a:p>
        </p:txBody>
      </p:sp>
      <p:sp>
        <p:nvSpPr>
          <p:cNvPr id="297" name="Google Shape;297;p5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Браузер обмежує доступ до файлової системи та мережевих ресурсів з міркувань безпеки.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Node.js надає прямий доступ до файлової системи, мережевих сокетів та системних API.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Модульна система</a:t>
            </a:r>
            <a:endParaRPr/>
          </a:p>
        </p:txBody>
      </p:sp>
      <p:sp>
        <p:nvSpPr>
          <p:cNvPr id="303" name="Google Shape;303;p5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Сучасні браузери підтримують ES модулі та динамічний імпорт.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Node.js підтримує як традиційну систему модулів CommonJS, так і сучасні ES-модулі, а також надає доступ до великої екосистеми npm-пакетів.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Глобальний об’єкт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Об'єкт global у Node.js</a:t>
            </a:r>
            <a:endParaRPr/>
          </a:p>
        </p:txBody>
      </p:sp>
      <p:sp>
        <p:nvSpPr>
          <p:cNvPr id="314" name="Google Shape;314;p5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Об'єкт global у Node.js є глобальним об'єктом, який доступний у кожному модулі програми.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З версії Node.js 14.0.0 також доступний об'єкт globalThis, який працює однаково як у Node.js, так і в браузері.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15" name="Google Shape;315;p57"/>
          <p:cNvSpPr txBox="1"/>
          <p:nvPr/>
        </p:nvSpPr>
        <p:spPr>
          <a:xfrm>
            <a:off x="655125" y="2528425"/>
            <a:ext cx="8224200" cy="241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global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myGlobalVar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'Глобальне значення'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global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myGlobalFunction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'Ця функція доступна у всьому коді'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global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myGlobalVar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global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myGlobalFunction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Порівняння глобальних об'єктів</a:t>
            </a:r>
            <a:endParaRPr/>
          </a:p>
        </p:txBody>
      </p:sp>
      <p:sp>
        <p:nvSpPr>
          <p:cNvPr id="321" name="Google Shape;321;p5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/>
              <a:t>У різних середовищах JavaScript використовуються різні глобальні об'єкти: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global</a:t>
            </a:r>
            <a:r>
              <a:rPr lang="ru" sz="1600"/>
              <a:t> у Node.js є глобальним простором імен для серверного середовища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window</a:t>
            </a:r>
            <a:r>
              <a:rPr lang="ru" sz="1600"/>
              <a:t> у браузері представляє вікно або вкладку браузера та надає доступ до DOM API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ru" sz="1600"/>
              <a:t>globalThis</a:t>
            </a:r>
            <a:r>
              <a:rPr lang="ru" sz="1600"/>
              <a:t> є стандартизованим способом доступу до глобального об'єкта, який працює однаково в усіх середовищах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Node.green</a:t>
            </a:r>
            <a:endParaRPr/>
          </a:p>
        </p:txBody>
      </p:sp>
      <p:sp>
        <p:nvSpPr>
          <p:cNvPr id="327" name="Google Shape;327;p5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https://node.green/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CommonJS modules - module.exports, require</a:t>
            </a:r>
            <a:endParaRPr/>
          </a:p>
        </p:txBody>
      </p:sp>
      <p:sp>
        <p:nvSpPr>
          <p:cNvPr id="333" name="Google Shape;333;p60"/>
          <p:cNvSpPr txBox="1"/>
          <p:nvPr>
            <p:ph idx="1" type="body"/>
          </p:nvPr>
        </p:nvSpPr>
        <p:spPr>
          <a:xfrm>
            <a:off x="464100" y="847675"/>
            <a:ext cx="39768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func.js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`Hello,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334" name="Google Shape;334;p60"/>
          <p:cNvSpPr txBox="1"/>
          <p:nvPr>
            <p:ph idx="1" type="body"/>
          </p:nvPr>
        </p:nvSpPr>
        <p:spPr>
          <a:xfrm>
            <a:off x="4704950" y="847675"/>
            <a:ext cx="43965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main.js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'./func.js'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'Maksym'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ESModules - </a:t>
            </a:r>
            <a:r>
              <a:rPr lang="ru"/>
              <a:t>export, import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61"/>
          <p:cNvSpPr txBox="1"/>
          <p:nvPr>
            <p:ph idx="1" type="body"/>
          </p:nvPr>
        </p:nvSpPr>
        <p:spPr>
          <a:xfrm>
            <a:off x="481625" y="847675"/>
            <a:ext cx="44838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func.js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`Hello,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341" name="Google Shape;341;p61"/>
          <p:cNvSpPr txBox="1"/>
          <p:nvPr>
            <p:ph idx="1" type="body"/>
          </p:nvPr>
        </p:nvSpPr>
        <p:spPr>
          <a:xfrm>
            <a:off x="5056425" y="847675"/>
            <a:ext cx="39768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main.js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'./func'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'Maksym'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import with destructuring</a:t>
            </a:r>
            <a:endParaRPr/>
          </a:p>
        </p:txBody>
      </p:sp>
      <p:sp>
        <p:nvSpPr>
          <p:cNvPr id="347" name="Google Shape;347;p62"/>
          <p:cNvSpPr txBox="1"/>
          <p:nvPr>
            <p:ph idx="1" type="body"/>
          </p:nvPr>
        </p:nvSpPr>
        <p:spPr>
          <a:xfrm>
            <a:off x="464100" y="847675"/>
            <a:ext cx="39768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func.js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`Hello,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${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`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  <p:sp>
        <p:nvSpPr>
          <p:cNvPr id="348" name="Google Shape;348;p62"/>
          <p:cNvSpPr txBox="1"/>
          <p:nvPr>
            <p:ph idx="1" type="body"/>
          </p:nvPr>
        </p:nvSpPr>
        <p:spPr>
          <a:xfrm>
            <a:off x="4827825" y="847675"/>
            <a:ext cx="39768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main.js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'./func'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getData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'Maksym'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Створення сервера</a:t>
            </a:r>
            <a:endParaRPr/>
          </a:p>
        </p:txBody>
      </p:sp>
      <p:sp>
        <p:nvSpPr>
          <p:cNvPr id="354" name="Google Shape;354;p6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'http'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http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createServer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'URL of your page:'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writeHead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{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'Content-Type'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'text/plain; charset=utf-8'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'It works fine'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server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listen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'We are listening port 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Postman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відправка запитів без браузера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Node.js + Express.js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Підготовка</a:t>
            </a:r>
            <a:endParaRPr/>
          </a:p>
        </p:txBody>
      </p:sp>
      <p:sp>
        <p:nvSpPr>
          <p:cNvPr id="370" name="Google Shape;370;p6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npm install --save express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npm install --save-dev -g nodemon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nodemon server.js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express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'express'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express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4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listen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()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'We live on 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" name="Google Shape;376;p6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Створення сервера з Express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Створюємо endpoints</a:t>
            </a:r>
            <a:endParaRPr/>
          </a:p>
        </p:txBody>
      </p:sp>
      <p:sp>
        <p:nvSpPr>
          <p:cNvPr id="382" name="Google Shape;382;p68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'/qwerty'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send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'Hello'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'/qwerty'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send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'Hello2'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Отримання параметрів</a:t>
            </a:r>
            <a:endParaRPr/>
          </a:p>
        </p:txBody>
      </p:sp>
      <p:sp>
        <p:nvSpPr>
          <p:cNvPr id="388" name="Google Shape;388;p69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express.json()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Об’єкт process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process</a:t>
            </a:r>
            <a:endParaRPr/>
          </a:p>
        </p:txBody>
      </p:sp>
      <p:sp>
        <p:nvSpPr>
          <p:cNvPr id="399" name="Google Shape;399;p71"/>
          <p:cNvSpPr txBox="1"/>
          <p:nvPr>
            <p:ph idx="1" type="body"/>
          </p:nvPr>
        </p:nvSpPr>
        <p:spPr>
          <a:xfrm>
            <a:off x="464100" y="847675"/>
            <a:ext cx="8520600" cy="3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Об'єкт process є глобальним об'єктом, який надає інформацію про поточний процес Node.js і контролює його. Цей об'єкт надається автоматично та не потребує імпорту.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/>
              <a:t>Основні можливості:</a:t>
            </a:r>
            <a:endParaRPr b="1"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Отримувати та встановлювати змінні оточення процесу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Відстежувати життєвий цикл процесу Node.js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Працювати з аргументами командного рядка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Обчислювати час роботи процесу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Відстежувати використання пам'яті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Керувати потоками введення/виведення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Обробляти події процесу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Контролювати завершення процесу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/>
              <a:t>Змінні оточення (environment variables) process.env</a:t>
            </a:r>
            <a:endParaRPr sz="2600"/>
          </a:p>
        </p:txBody>
      </p:sp>
      <p:sp>
        <p:nvSpPr>
          <p:cNvPr id="405" name="Google Shape;405;p72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apiKey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API_KEY</a:t>
            </a:r>
            <a:endParaRPr sz="1200">
              <a:solidFill>
                <a:srgbClr val="4FC1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NODE_ENV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'production'</a:t>
            </a:r>
            <a:endParaRPr sz="12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isDevelopment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NODE_ENV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===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'development'</a:t>
            </a:r>
            <a:endParaRPr sz="12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Робота зі змінними оточення</a:t>
            </a:r>
            <a:endParaRPr/>
          </a:p>
        </p:txBody>
      </p:sp>
      <p:sp>
        <p:nvSpPr>
          <p:cNvPr id="411" name="Google Shape;411;p73"/>
          <p:cNvSpPr txBox="1"/>
          <p:nvPr>
            <p:ph idx="1" type="body"/>
          </p:nvPr>
        </p:nvSpPr>
        <p:spPr>
          <a:xfrm>
            <a:off x="464100" y="847675"/>
            <a:ext cx="8520600" cy="4220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Встановіть пакет dotenv: npm install dotenv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.env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endParaRPr sz="1200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API_KEY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your_secret_key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app.js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require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'dotenv'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config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Робота зі змінними оточення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||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endParaRPr sz="1200">
              <a:solidFill>
                <a:srgbClr val="B5CEA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apiKey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API_KEY</a:t>
            </a:r>
            <a:endParaRPr sz="1200">
              <a:solidFill>
                <a:srgbClr val="4FC1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nodeEnv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process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NODE_ENV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||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'development'</a:t>
            </a:r>
            <a:endParaRPr sz="1200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Перевірка середовища виконання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nodeEnv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===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'development'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'Запущено в режимі розробки'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