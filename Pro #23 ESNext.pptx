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e87ffde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e87ffde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e87ffde5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e87ffde5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e87ffde5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e87ffde5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e87ffde5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e87ffde5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e87ffde5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e87ffde5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e87ffde5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e87ffde5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e87ffde5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e87ffde5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e87ffde5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e87ffde5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4e87ffde5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4e87ffde5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e87ffde5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4e87ffde5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e87ffde5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4e87ffde5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e87ffde5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4e87ffde5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e87ffde5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e87ffde5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e87ffde5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e87ffde5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e87ffde5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e87ffde5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e87ffde5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e87ffde5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e87ffde5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e87ffde5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e87ffde5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e87ffde5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4e87ffde5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4e87ffde5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e87ffde5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e87ffde5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e87ffde5c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e87ffde5c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e87ffde5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e87ffde5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429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685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287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7145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057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4003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babeljs.io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w3schools.com/js/js_versions.asp" TargetMode="External"/><Relationship Id="rId4" Type="http://schemas.openxmlformats.org/officeDocument/2006/relationships/hyperlink" Target="https://github.com/daumann/ECMAScript-new-features-list" TargetMode="External"/><Relationship Id="rId5" Type="http://schemas.openxmlformats.org/officeDocument/2006/relationships/hyperlink" Target="https://habr.com/ru/post/533672/" TargetMode="External"/><Relationship Id="rId6" Type="http://schemas.openxmlformats.org/officeDocument/2006/relationships/hyperlink" Target="https://github.com/airbnb/javascript" TargetMode="External"/><Relationship Id="rId7" Type="http://schemas.openxmlformats.org/officeDocument/2006/relationships/hyperlink" Target="https://deepsource.io/blog/javascript-code-quality-best-practices/" TargetMode="External"/><Relationship Id="rId8" Type="http://schemas.openxmlformats.org/officeDocument/2006/relationships/hyperlink" Target="https://github.com/devSchacht/clean-code-javascrip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Front-End Pro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800"/>
              <a:t>Заняття №23</a:t>
            </a:r>
            <a:endParaRPr i="1" sz="1800"/>
          </a:p>
        </p:txBody>
      </p:sp>
      <p:sp>
        <p:nvSpPr>
          <p:cNvPr id="62" name="Google Shape;62;p14"/>
          <p:cNvSpPr txBox="1"/>
          <p:nvPr/>
        </p:nvSpPr>
        <p:spPr>
          <a:xfrm>
            <a:off x="6756299" y="4612325"/>
            <a:ext cx="207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© </a:t>
            </a:r>
            <a:r>
              <a:rPr i="1" lang="ru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Максим </a:t>
            </a:r>
            <a:r>
              <a:rPr i="1" lang="ru" sz="1200">
                <a:latin typeface="Calibri"/>
                <a:ea typeface="Calibri"/>
                <a:cs typeface="Calibri"/>
                <a:sym typeface="Calibri"/>
              </a:rPr>
              <a:t>Бєлкін</a:t>
            </a:r>
            <a:endParaRPr i="1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EcmaScript 2015 (ES6) - Harmony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464100" y="847675"/>
            <a:ext cx="863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EcmaScript 1, 2, 3 ….5, 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Найбільше оновлення мови за 20 років (з 1995)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Старі браузери та підтримка сучасного EcmaScript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Babel - транспайлер ES6+ в ES5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2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ECMAScript — мова що динамічно розвивається, та її еволюція ще не закінчилась. В майбутніх версіях цієї специфікації з’являться суттєві технічні покращення.</a:t>
            </a:r>
            <a:endParaRPr i="1" sz="12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chemeClr val="dk1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Babel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https://babeljs.io/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marR="266700" rtl="0" algn="l">
              <a:lnSpc>
                <a:spcPct val="142857"/>
              </a:lnSpc>
              <a:spcBef>
                <a:spcPts val="1600"/>
              </a:spcBef>
              <a:spcAft>
                <a:spcPts val="0"/>
              </a:spcAft>
              <a:buClr>
                <a:srgbClr val="323330"/>
              </a:buClr>
              <a:buSzPts val="1200"/>
              <a:buFont typeface="Consolas"/>
              <a:buChar char="●"/>
            </a:pPr>
            <a:r>
              <a:rPr lang="ru" sz="1200">
                <a:solidFill>
                  <a:srgbClr val="323330"/>
                </a:solidFill>
                <a:latin typeface="Consolas"/>
                <a:ea typeface="Consolas"/>
                <a:cs typeface="Consolas"/>
                <a:sym typeface="Consolas"/>
              </a:rPr>
              <a:t>npm init (if no package.json yet)</a:t>
            </a:r>
            <a:endParaRPr sz="1200">
              <a:solidFill>
                <a:srgbClr val="32333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marR="2667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23330"/>
              </a:buClr>
              <a:buSzPts val="1200"/>
              <a:buFont typeface="Consolas"/>
              <a:buChar char="●"/>
            </a:pPr>
            <a:r>
              <a:rPr lang="ru" sz="1200">
                <a:solidFill>
                  <a:srgbClr val="323330"/>
                </a:solidFill>
                <a:latin typeface="Consolas"/>
                <a:ea typeface="Consolas"/>
                <a:cs typeface="Consolas"/>
                <a:sym typeface="Consolas"/>
              </a:rPr>
              <a:t>npm install -g @babel/cli</a:t>
            </a:r>
            <a:endParaRPr sz="1200">
              <a:solidFill>
                <a:srgbClr val="32333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marR="2667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23330"/>
              </a:buClr>
              <a:buSzPts val="1200"/>
              <a:buFont typeface="Consolas"/>
              <a:buChar char="●"/>
            </a:pPr>
            <a:r>
              <a:rPr lang="ru" sz="1200">
                <a:solidFill>
                  <a:srgbClr val="323330"/>
                </a:solidFill>
                <a:latin typeface="Consolas"/>
                <a:ea typeface="Consolas"/>
                <a:cs typeface="Consolas"/>
                <a:sym typeface="Consolas"/>
              </a:rPr>
              <a:t>npm install --save-dev @babel/core @babel/cli @babel/preset-env</a:t>
            </a:r>
            <a:endParaRPr sz="1200">
              <a:solidFill>
                <a:srgbClr val="323330"/>
              </a:solidFill>
              <a:highlight>
                <a:srgbClr val="FDFAEB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marR="26670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323330"/>
              </a:buClr>
              <a:buSzPts val="1200"/>
              <a:buFont typeface="Consolas"/>
              <a:buChar char="●"/>
            </a:pPr>
            <a:r>
              <a:rPr lang="ru" sz="1200">
                <a:solidFill>
                  <a:srgbClr val="323330"/>
                </a:solidFill>
                <a:latin typeface="Consolas"/>
                <a:ea typeface="Consolas"/>
                <a:cs typeface="Consolas"/>
                <a:sym typeface="Consolas"/>
              </a:rPr>
              <a:t>Create .babelrc file 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"presets"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"@babel/preset-env"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}</a:t>
            </a:r>
            <a:endParaRPr sz="1200">
              <a:solidFill>
                <a:srgbClr val="32333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nsolas"/>
              <a:buChar char="●"/>
            </a:pPr>
            <a:r>
              <a:rPr lang="ru" sz="1200">
                <a:latin typeface="Consolas"/>
                <a:ea typeface="Consolas"/>
                <a:cs typeface="Consolas"/>
                <a:sym typeface="Consolas"/>
              </a:rPr>
              <a:t>babel src/ -d dist/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onsolas"/>
              <a:buChar char="●"/>
            </a:pPr>
            <a:r>
              <a:rPr lang="ru" sz="1200">
                <a:latin typeface="Consolas"/>
                <a:ea typeface="Consolas"/>
                <a:cs typeface="Consolas"/>
                <a:sym typeface="Consolas"/>
              </a:rPr>
              <a:t>babel js/ -d dist/ -w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2333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NPM Scripts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"scripts"</a:t>
            </a:r>
            <a:r>
              <a:rPr lang="ru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rgbClr val="A9B7C6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>
                <a:solidFill>
                  <a:srgbClr val="9876AA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"start"</a:t>
            </a:r>
            <a:r>
              <a:rPr lang="ru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>
                <a:solidFill>
                  <a:srgbClr val="6A8759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"babel src/ -o dist/build.js --minified"</a:t>
            </a:r>
            <a:endParaRPr>
              <a:solidFill>
                <a:srgbClr val="6A8759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>
                <a:solidFill>
                  <a:srgbClr val="CC7832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CC7832"/>
              </a:solidFill>
              <a:highlight>
                <a:srgbClr val="2B2B2B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283325" y="23557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800"/>
              <a:t>EcmaScript 2015 (ES6)</a:t>
            </a:r>
            <a:endParaRPr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464100" y="847675"/>
            <a:ext cx="6368700" cy="39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>
                <a:highlight>
                  <a:srgbClr val="00FF00"/>
                </a:highlight>
              </a:rPr>
              <a:t>Підтримка let, const</a:t>
            </a:r>
            <a:endParaRPr sz="1400">
              <a:highlight>
                <a:srgbClr val="00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>
                <a:highlight>
                  <a:srgbClr val="00FF00"/>
                </a:highlight>
              </a:rPr>
              <a:t>Стрілочні функції</a:t>
            </a:r>
            <a:endParaRPr sz="1400">
              <a:highlight>
                <a:srgbClr val="00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>
                <a:highlight>
                  <a:srgbClr val="00FF00"/>
                </a:highlight>
              </a:rPr>
              <a:t>Promise</a:t>
            </a:r>
            <a:endParaRPr sz="1400">
              <a:highlight>
                <a:srgbClr val="00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rest, spread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Деструктуризація масивів та об’єктів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>
                <a:highlight>
                  <a:srgbClr val="00FF00"/>
                </a:highlight>
              </a:rPr>
              <a:t>Map/Set</a:t>
            </a:r>
            <a:endParaRPr sz="1400">
              <a:highlight>
                <a:srgbClr val="00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>
                <a:highlight>
                  <a:srgbClr val="00FF00"/>
                </a:highlight>
              </a:rPr>
              <a:t>Classes</a:t>
            </a:r>
            <a:endParaRPr sz="1400">
              <a:highlight>
                <a:srgbClr val="00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>
                <a:highlight>
                  <a:srgbClr val="00FF00"/>
                </a:highlight>
              </a:rPr>
              <a:t>for..of</a:t>
            </a:r>
            <a:endParaRPr sz="1400">
              <a:highlight>
                <a:srgbClr val="00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Symbol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>
                <a:highlight>
                  <a:srgbClr val="00FF00"/>
                </a:highlight>
              </a:rPr>
              <a:t>Параметри функції за замовчуванням</a:t>
            </a:r>
            <a:endParaRPr sz="1400">
              <a:highlight>
                <a:srgbClr val="00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ESModules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String.includes(), startsWith(), endsWith()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>
                <a:highlight>
                  <a:srgbClr val="00FF00"/>
                </a:highlight>
              </a:rPr>
              <a:t>Array find(), findIndex()</a:t>
            </a:r>
            <a:endParaRPr sz="1400">
              <a:highlight>
                <a:srgbClr val="00FF00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Math trunc, Math.sign, Math.cbrt, Math.log2, Math.log10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etc…</a:t>
            </a:r>
            <a:endParaRPr sz="1400"/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Неповний список оновлень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Spread operator (розкладає)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464100" y="3154125"/>
            <a:ext cx="8520600" cy="19191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z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z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// 1,2,3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(...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1 2 3</a:t>
            </a:r>
            <a:endParaRPr b="1" sz="1200">
              <a:solidFill>
                <a:srgbClr val="CC7832"/>
              </a:solidFill>
              <a:highlight>
                <a:srgbClr val="2B2B2B"/>
              </a:highlight>
            </a:endParaRPr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464100" y="833300"/>
            <a:ext cx="8520600" cy="21771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arr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11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[1, 2, [3, 4], 5, 6]</a:t>
            </a:r>
            <a:endParaRPr sz="11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/////</a:t>
            </a:r>
            <a:endParaRPr sz="11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arr2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...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mid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1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1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1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arr2</a:t>
            </a:r>
            <a:r>
              <a:rPr lang="ru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11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[1, 2, 3, 4, 5, 6]</a:t>
            </a:r>
            <a:endParaRPr sz="11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Spread operator (розкладає)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464100" y="833300"/>
            <a:ext cx="8520600" cy="21771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arr1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arr2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arr1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any changes to arr2 impacts arr1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arr3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arr4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[...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arr3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arr4 is a copy of arr3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Rest operator (збирає до купи)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464100" y="847675"/>
            <a:ext cx="8520600" cy="14481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(...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[1, 2, 3, 4, 5]</a:t>
            </a:r>
            <a:endParaRPr b="1" sz="1200">
              <a:solidFill>
                <a:srgbClr val="CC7832"/>
              </a:solidFill>
              <a:highlight>
                <a:srgbClr val="2B2B2B"/>
              </a:highlight>
            </a:endParaRPr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464100" y="2488975"/>
            <a:ext cx="8520600" cy="24000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...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 - 1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b - 2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rest - ['qwerty', '111', true]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'qwerty'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'111'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Деструктуризація масива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php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py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rb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 = [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'javascript'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'php'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'python'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'ruby'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js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php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py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4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rb</a:t>
            </a:r>
            <a:r>
              <a:rPr lang="ru" sz="14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4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A9B7C6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Деструктуризація об’єкта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'Bill'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age: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skills: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'javascript'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'php'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'python'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'ruby'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skills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 =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skills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CC7832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464100" y="160725"/>
            <a:ext cx="8520600" cy="4922400"/>
          </a:xfrm>
          <a:prstGeom prst="rect">
            <a:avLst/>
          </a:prstGeom>
          <a:solidFill>
            <a:srgbClr val="0000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skills: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'javascript'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'php'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'python'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'ruby'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firstName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'John'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skills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: [,,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 =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firstName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dataToSend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firstName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language: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CC7832"/>
              </a:solidFill>
              <a:highlight>
                <a:srgbClr val="2B2B2B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464100" y="847675"/>
            <a:ext cx="801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Оператор возведення в ступінь **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x ** 2 - х в другому ступені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x **= 2 - возведення x в другий ступінь та присвоєння результата змінній x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Array.includes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Перевірка чи є елемент в масиві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Результат - true, false</a:t>
            </a:r>
            <a:endParaRPr/>
          </a:p>
        </p:txBody>
      </p:sp>
      <p:sp>
        <p:nvSpPr>
          <p:cNvPr id="134" name="Google Shape;134;p26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EcmaScript 2016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464100" y="847675"/>
            <a:ext cx="801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Object.entries(), Object.values()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async…await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Trailling commas,</a:t>
            </a:r>
            <a:endParaRPr sz="1400"/>
          </a:p>
        </p:txBody>
      </p:sp>
      <p:sp>
        <p:nvSpPr>
          <p:cNvPr id="140" name="Google Shape;140;p27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EcmaScript 2017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464100" y="847675"/>
            <a:ext cx="801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Promises…finally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додатковий метод до then, catch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Object Rest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Підтримка оператора rest в об’єктах</a:t>
            </a:r>
            <a:endParaRPr sz="1400"/>
          </a:p>
        </p:txBody>
      </p:sp>
      <p:sp>
        <p:nvSpPr>
          <p:cNvPr id="146" name="Google Shape;146;p28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EcmaScript 2018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464100" y="847675"/>
            <a:ext cx="801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Додаткові корисні фукнції та покращення існуючих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String.trimStart(), String.trimEnd()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Object.fromEntries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Optional catch binding in try..catch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Array.flat(), Array.flatMap()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Revised Array.Sort()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Revised JSON.stringify()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ru"/>
              <a:t>Revised Function.toString()</a:t>
            </a:r>
            <a:endParaRPr/>
          </a:p>
        </p:txBody>
      </p:sp>
      <p:sp>
        <p:nvSpPr>
          <p:cNvPr id="152" name="Google Shape;152;p29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EcmaScript 2019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EcmaScript 2020. Тип даних BigInt</a:t>
            </a:r>
            <a:endParaRPr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464100" y="847675"/>
            <a:ext cx="8520600" cy="6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400"/>
              <a:t>BigInt - для зберігання чисел більше за 2</a:t>
            </a:r>
            <a:r>
              <a:rPr baseline="30000" lang="ru" sz="1400"/>
              <a:t>53</a:t>
            </a:r>
            <a:r>
              <a:rPr lang="ru" sz="1400"/>
              <a:t>-1</a:t>
            </a:r>
            <a:endParaRPr sz="1400"/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623400" y="1412225"/>
            <a:ext cx="8520600" cy="3620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maxNumber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4EC9B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MAX_SAFE_INTEGER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9007199254740991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maxNumber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9007199254740992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maxNumber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9007199254740992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10n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typeof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bigint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=== 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BigInt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true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true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=== 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false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30n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TypeError: Cannot mix BigInt and other types, use explicit conversions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sum2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9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EcmaScript 2020. String.matchAll</a:t>
            </a:r>
            <a:endParaRPr/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623400" y="891425"/>
            <a:ext cx="8520600" cy="30057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'hello 123 world 888 it is an awesome 777 day'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regExp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</a:t>
            </a:r>
            <a:r>
              <a:rPr lang="ru" sz="12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/\d</a:t>
            </a:r>
            <a:r>
              <a:rPr lang="ru" sz="1200">
                <a:solidFill>
                  <a:srgbClr val="D7BA7D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{3}</a:t>
            </a:r>
            <a:r>
              <a:rPr lang="ru" sz="1200">
                <a:solidFill>
                  <a:srgbClr val="D16969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match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regExp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['123', '888', '777']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matchAll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regExp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C586C0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of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item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EcmaScript 2020. Nullish Coalescing (нулевое слияние)</a:t>
            </a:r>
            <a:endParaRPr sz="2400"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623400" y="891425"/>
            <a:ext cx="8520600" cy="41733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character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fullname: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'Captain America'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age: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undefined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friends: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bankBalance: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description: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character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|| 1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10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character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|| [];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[]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character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||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'n/a'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'n/a'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bankBalance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character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bankBalance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|| 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1000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'||'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{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bankBalance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age2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character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age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?? 1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10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friends2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character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friends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?? [];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[]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description2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character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?? 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'n/a'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''</a:t>
            </a:r>
            <a:endParaRPr sz="9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bankBalance2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9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character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bankBalance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?? </a:t>
            </a:r>
            <a:r>
              <a:rPr lang="ru" sz="9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1000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ru" sz="9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0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9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9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'??'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{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age2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friends2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description2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9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bankBalance2</a:t>
            </a:r>
            <a:r>
              <a:rPr lang="ru" sz="9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});</a:t>
            </a:r>
            <a:endParaRPr sz="9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EcmaScript 2020. Optional Chaining</a:t>
            </a:r>
            <a:endParaRPr/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623400" y="891425"/>
            <a:ext cx="8520600" cy="4039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{};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()); </a:t>
            </a:r>
            <a:r>
              <a:rPr lang="ru" sz="8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TypeError</a:t>
            </a:r>
            <a:endParaRPr sz="8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obj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?.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show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()); </a:t>
            </a:r>
            <a:r>
              <a:rPr lang="ru" sz="8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undefined</a:t>
            </a:r>
            <a:endParaRPr sz="8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companyEmployees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{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fullname: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'Big Boss'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employees: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fullname: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'Small boss'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employees: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[]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{ 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id: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8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],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companyEmployees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employees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8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fullname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8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Small boss</a:t>
            </a:r>
            <a:endParaRPr sz="8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companyEmployees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employees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8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employees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8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fullname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8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error</a:t>
            </a:r>
            <a:endParaRPr sz="8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check if employees[0] exists</a:t>
            </a:r>
            <a:endParaRPr sz="8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companyEmployees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employees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8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employees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8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]?.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fullname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8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undefined</a:t>
            </a:r>
            <a:endParaRPr sz="8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check if employees exists and if employees[1] exists</a:t>
            </a:r>
            <a:endParaRPr sz="8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8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companyEmployees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employees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8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employees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?.[</a:t>
            </a:r>
            <a:r>
              <a:rPr lang="ru" sz="8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]?.</a:t>
            </a:r>
            <a:r>
              <a:rPr lang="ru" sz="8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fullname</a:t>
            </a:r>
            <a:r>
              <a:rPr lang="ru" sz="8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lang="ru" sz="8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undefined</a:t>
            </a:r>
            <a:endParaRPr sz="8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8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EcmaScript 2020. Операторы логического присваивания</a:t>
            </a:r>
            <a:endParaRPr sz="2400"/>
          </a:p>
        </p:txBody>
      </p:sp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623400" y="891425"/>
            <a:ext cx="2362800" cy="4039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&amp;&amp;=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 &amp;&amp; (a = b);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if (a) {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a = b;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*/</a:t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3574200" y="891425"/>
            <a:ext cx="2295000" cy="4039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||=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 || (a = b);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if (!a) {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a = b;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*/</a:t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6525000" y="891425"/>
            <a:ext cx="2362800" cy="40392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9CDCFE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??= 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b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a ?? (a = b)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/*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if (a === null || a === undefined) {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  a = b;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*/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4641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EcmaScript 2022. Звертання до елементів масива з кінця</a:t>
            </a:r>
            <a:endParaRPr sz="2400"/>
          </a:p>
        </p:txBody>
      </p:sp>
      <p:sp>
        <p:nvSpPr>
          <p:cNvPr id="191" name="Google Shape;191;p35"/>
          <p:cNvSpPr txBox="1"/>
          <p:nvPr>
            <p:ph idx="1" type="body"/>
          </p:nvPr>
        </p:nvSpPr>
        <p:spPr>
          <a:xfrm>
            <a:off x="623400" y="891425"/>
            <a:ext cx="8361300" cy="35580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569CD6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'John'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'Stacie'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200">
                <a:solidFill>
                  <a:srgbClr val="CE917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'Isaac'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]); </a:t>
            </a: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Isaac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Isaac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(-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John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CDCFE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console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log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200">
                <a:solidFill>
                  <a:srgbClr val="4FC1FF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ru" sz="1200">
                <a:solidFill>
                  <a:srgbClr val="DCDCAA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at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(-</a:t>
            </a:r>
            <a:r>
              <a:rPr lang="ru" sz="1200">
                <a:solidFill>
                  <a:srgbClr val="B5CEA8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ru" sz="12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)); </a:t>
            </a:r>
            <a:r>
              <a:rPr lang="ru" sz="1200">
                <a:solidFill>
                  <a:srgbClr val="6A9955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// undefined</a:t>
            </a:r>
            <a:endParaRPr sz="1200">
              <a:solidFill>
                <a:srgbClr val="6A9955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4D4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69CD6"/>
              </a:solidFill>
              <a:highlight>
                <a:srgbClr val="1E1E1E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type="title"/>
          </p:nvPr>
        </p:nvSpPr>
        <p:spPr>
          <a:xfrm>
            <a:off x="4641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Корисна література по ESNext</a:t>
            </a:r>
            <a:endParaRPr/>
          </a:p>
        </p:txBody>
      </p:sp>
      <p:sp>
        <p:nvSpPr>
          <p:cNvPr id="197" name="Google Shape;197;p36"/>
          <p:cNvSpPr txBox="1"/>
          <p:nvPr>
            <p:ph idx="1" type="body"/>
          </p:nvPr>
        </p:nvSpPr>
        <p:spPr>
          <a:xfrm>
            <a:off x="4641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Опис всіх версій: </a:t>
            </a:r>
            <a:r>
              <a:rPr lang="ru" sz="1400" u="sng">
                <a:solidFill>
                  <a:schemeClr val="hlink"/>
                </a:solidFill>
                <a:hlinkClick r:id="rId3"/>
              </a:rPr>
              <a:t>https://www.w3schools.com/js/js_versions.asp</a:t>
            </a:r>
            <a:r>
              <a:rPr lang="ru" sz="1400"/>
              <a:t>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u="sng">
                <a:solidFill>
                  <a:schemeClr val="hlink"/>
                </a:solidFill>
                <a:hlinkClick r:id="rId4"/>
              </a:rPr>
              <a:t>https://github.com/daumann/ECMAScript-new-features-list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EcmaScript 2021: </a:t>
            </a:r>
            <a:r>
              <a:rPr lang="ru" sz="1400" u="sng">
                <a:solidFill>
                  <a:schemeClr val="hlink"/>
                </a:solidFill>
                <a:hlinkClick r:id="rId5"/>
              </a:rPr>
              <a:t>https://habr.com/post/533672/</a:t>
            </a:r>
            <a:r>
              <a:rPr lang="ru" sz="1400"/>
              <a:t> 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u="sng"/>
              <a:t>Рекомендації по код-стилю:</a:t>
            </a:r>
            <a:endParaRPr sz="1400" u="sng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/>
              <a:t>Code Style: </a:t>
            </a:r>
            <a:r>
              <a:rPr lang="ru" sz="1400" u="sng">
                <a:solidFill>
                  <a:schemeClr val="hlink"/>
                </a:solidFill>
                <a:hlinkClick r:id="rId6"/>
              </a:rPr>
              <a:t>https://github.com/airbnb/javascript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u="sng">
                <a:solidFill>
                  <a:schemeClr val="hlink"/>
                </a:solidFill>
                <a:hlinkClick r:id="rId7"/>
              </a:rPr>
              <a:t>https://deepsource.io/blog/javascript-code-quality-best-practices/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 u="sng">
                <a:solidFill>
                  <a:schemeClr val="hlink"/>
                </a:solidFill>
                <a:hlinkClick r:id="rId8"/>
              </a:rPr>
              <a:t>https://github.com/devSchacht/clean-code-javascript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