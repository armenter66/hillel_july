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61aad978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61aad978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61aad978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61aad978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61aad978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61aad978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61aad978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61aad978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561aad978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561aad978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561aad978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561aad978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61aad978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61aad978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61aad978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61aad978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61aad9784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61aad978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61aad978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61aad978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61aad978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61aad978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61aad978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61aad978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61aad9784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61aad978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61aad978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61aad978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61aad978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61aad978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61aad978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61aad978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61aad978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561aad978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625eaee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5625eaee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hyperlink" Target="https://react.dev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facebook/create-react-app" TargetMode="External"/><Relationship Id="rId4" Type="http://schemas.openxmlformats.org/officeDocument/2006/relationships/hyperlink" Target="https://vitejs.dev/guide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ru.reactjs.org/docs/reconciliation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react.dev/" TargetMode="External"/><Relationship Id="rId4" Type="http://schemas.openxmlformats.org/officeDocument/2006/relationships/hyperlink" Target="https://habr.com/ru/company/macloud/blog/558682/" TargetMode="External"/><Relationship Id="rId5" Type="http://schemas.openxmlformats.org/officeDocument/2006/relationships/hyperlink" Target="https://frontend-stuff.com/blog/commonly-used-words-in-react/" TargetMode="External"/><Relationship Id="rId6" Type="http://schemas.openxmlformats.org/officeDocument/2006/relationships/hyperlink" Target="https://chrome.google.com/webstore/detail/react-developer-tools/fmkadmapgofadopljbjfkapdkoienihi" TargetMode="External"/><Relationship Id="rId7" Type="http://schemas.openxmlformats.org/officeDocument/2006/relationships/hyperlink" Target="https://www.youtube.com/watch?v=wIyHSOugGGw" TargetMode="External"/><Relationship Id="rId8" Type="http://schemas.openxmlformats.org/officeDocument/2006/relationships/hyperlink" Target="https://www.youtube.com/watch?v=GrHsidFkvMw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Заняття</a:t>
            </a:r>
            <a:r>
              <a:rPr i="1" lang="ru" sz="1800"/>
              <a:t> №26</a:t>
            </a:r>
            <a:endParaRPr i="1" sz="1800"/>
          </a:p>
        </p:txBody>
      </p:sp>
      <p:sp>
        <p:nvSpPr>
          <p:cNvPr id="56" name="Google Shape;56;p13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</a:t>
            </a:r>
            <a:r>
              <a:rPr i="1" lang="ru" sz="1200">
                <a:latin typeface="Calibri"/>
                <a:ea typeface="Calibri"/>
                <a:cs typeface="Calibri"/>
                <a:sym typeface="Calibri"/>
              </a:rPr>
              <a:t>Бєлкін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97575" y="28652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React.js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3013" y="1436475"/>
            <a:ext cx="16097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7098975" y="4531675"/>
            <a:ext cx="181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https://react.dev/</a:t>
            </a:r>
            <a:r>
              <a:rPr lang="ru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Introduction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Бібліотека для будування UI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Екосистема React - інструмент для будування SPA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Низкий порог входа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Гнучкість та універсальність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Компонентний підхід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з маленькіх шматочків =&gt; великий додаток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Висока продуктивність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Велика комьюніті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6955" l="30308" r="30840" t="5997"/>
          <a:stretch/>
        </p:blipFill>
        <p:spPr>
          <a:xfrm>
            <a:off x="6466100" y="540288"/>
            <a:ext cx="2264874" cy="4062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 rotWithShape="1">
          <a:blip r:embed="rId4">
            <a:alphaModFix/>
          </a:blip>
          <a:srcRect b="0" l="9884" r="10211" t="8147"/>
          <a:stretch/>
        </p:blipFill>
        <p:spPr>
          <a:xfrm>
            <a:off x="428613" y="873727"/>
            <a:ext cx="4667901" cy="348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05234" y="1218850"/>
            <a:ext cx="1114675" cy="98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1209" y="1388550"/>
            <a:ext cx="1114675" cy="9893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2330725" y="2247575"/>
            <a:ext cx="86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React.js</a:t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7041200" y="2503700"/>
            <a:ext cx="120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Native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6550" y="1707051"/>
            <a:ext cx="1481249" cy="148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trike="sngStrike"/>
              <a:t>Create-React-App </a:t>
            </a:r>
            <a:r>
              <a:rPr i="1" lang="ru" u="sng" strike="sngStrike">
                <a:solidFill>
                  <a:schemeClr val="hlink"/>
                </a:solidFill>
                <a:hlinkClick r:id="rId3"/>
              </a:rPr>
              <a:t>https://github.com/facebook/create-react-app</a:t>
            </a:r>
            <a:endParaRPr i="1" strike="sngStrike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Vite: </a:t>
            </a:r>
            <a:r>
              <a:rPr lang="ru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https://vitejs.dev/guide/</a:t>
            </a:r>
            <a:r>
              <a:rPr lang="ru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Приклад компонента (класовий)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539075" y="863550"/>
            <a:ext cx="8520600" cy="3721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3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3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Component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3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render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3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ru" sz="13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3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3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Hello, world!</a:t>
            </a:r>
            <a:r>
              <a:rPr lang="ru" sz="13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3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3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3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);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3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3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Приклад компонента (функціональний)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539075" y="863550"/>
            <a:ext cx="8520600" cy="3721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Hello, world!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4641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Що таке JSX?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513650" y="725650"/>
            <a:ext cx="8520600" cy="2097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1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"main"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Hello, world!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 Text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1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1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2000"/>
          </a:p>
        </p:txBody>
      </p:sp>
      <p:sp>
        <p:nvSpPr>
          <p:cNvPr id="105" name="Google Shape;105;p20"/>
          <p:cNvSpPr/>
          <p:nvPr/>
        </p:nvSpPr>
        <p:spPr>
          <a:xfrm>
            <a:off x="4335900" y="2916750"/>
            <a:ext cx="423300" cy="329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513650" y="3292975"/>
            <a:ext cx="8520600" cy="1584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React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createElement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'div'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{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'main'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React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createElement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{},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'Hello, world'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React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createElement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'button'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{},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'Button Text'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DCDCAA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4641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State та props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464100" y="923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Props (properties) - параметри що приймає компонент ззовні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State - поточний стан компонента (дані, що доступні тільки всередині компонента)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При зміні props або state - відбувається автоматичний ре-рендер компонента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Композиція компоненів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539075" y="787350"/>
            <a:ext cx="8520600" cy="13218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App.jsx</a:t>
            </a:r>
            <a:endParaRPr sz="1200">
              <a:solidFill>
                <a:srgbClr val="DCDCAA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"myBtn"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"Btn #1"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"myBtn"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"Btn #2"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"myBtn"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"Btn #3"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2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138" y="2669250"/>
            <a:ext cx="6897724" cy="142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Передача props компоненту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539075" y="787350"/>
            <a:ext cx="8520600" cy="4280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App.jsx</a:t>
            </a:r>
            <a:endParaRPr sz="14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4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"myBtn"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"Hello"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/&gt;</a:t>
            </a:r>
            <a:endParaRPr sz="14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DCDCAA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Button.jsx</a:t>
            </a:r>
            <a:endParaRPr sz="1400">
              <a:solidFill>
                <a:srgbClr val="DCDCAA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props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=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props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4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4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4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Робота з state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539075" y="711150"/>
            <a:ext cx="8520600" cy="41724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props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isClicked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setIsClicked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=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props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handleClick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setIsClicked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clickedText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isClicked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?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 is clicked"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ru" sz="10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 is not clicked"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0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handleClick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0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clickedText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0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10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0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10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Робота з state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539075" y="787350"/>
            <a:ext cx="8520600" cy="4280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"react"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props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isClicked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setIsClicked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clickAmount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setClickAmount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=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props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handleClick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()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setIsClicked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setClickAmount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clickAmount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7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setClickAmount((prevAmount) =&gt; {</a:t>
            </a:r>
            <a:endParaRPr sz="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  return prevAmount + 1;</a:t>
            </a:r>
            <a:endParaRPr sz="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7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});</a:t>
            </a:r>
            <a:endParaRPr sz="7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clickedText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isClicked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? 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 is clicked"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lang="ru" sz="7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"Button is not clicked"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7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onClick</a:t>
            </a: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7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handleClick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7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text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clickedText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7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clickAmount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7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lang="ru" sz="7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7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7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Virtual DOM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ru"/>
              <a:t>Будь яка зміна DOM - re-render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Одна зміна - один re-render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операція “дорога”, так як спливає на всі дочірні елементи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чим більше змін - тим більше re-render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111111"/>
                </a:solidFill>
                <a:highlight>
                  <a:srgbClr val="FFFFFF"/>
                </a:highlight>
              </a:rPr>
              <a:t>Віртуальний DOM (VDOM) — це концепція программування, де “віртуальне” уявлення UI зберігається в пам’яті і сінхронізується з “реальним” DOM.</a:t>
            </a:r>
            <a:endParaRPr sz="12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 sz="1200">
                <a:solidFill>
                  <a:srgbClr val="111111"/>
                </a:solidFill>
                <a:highlight>
                  <a:srgbClr val="FFFFFF"/>
                </a:highlight>
              </a:rPr>
              <a:t>Процес сінхронізації називається узгодженням</a:t>
            </a:r>
            <a:r>
              <a:rPr lang="ru" sz="1200">
                <a:solidFill>
                  <a:srgbClr val="548EAA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(reconcilation)</a:t>
            </a:r>
            <a:r>
              <a:rPr lang="ru" sz="1200">
                <a:solidFill>
                  <a:srgbClr val="111111"/>
                </a:solidFill>
                <a:highlight>
                  <a:srgbClr val="FFFFFF"/>
                </a:highlight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688" y="305287"/>
            <a:ext cx="6674625" cy="453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Conditional rendering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539075" y="787350"/>
            <a:ext cx="8520600" cy="4280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(!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className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&amp;&amp;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r>
              <a:rPr lang="ru" sz="1200">
                <a:solidFill>
                  <a:srgbClr val="80808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sz="1200">
              <a:solidFill>
                <a:srgbClr val="80808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492025" y="18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Популярні бібліотеки React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509925" y="103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Components: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AntD, MaterialUI, Tailwind, Styled Components,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State managers: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Redux (redux-toolkit etc), MobX, Zustand,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Forms: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Redux Forms, Formik,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React DnD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React-router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Tests: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Jest, Enzyme, RTL, Cypress, Playwright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….much much more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492025" y="18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Корисна література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509925" y="103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React.js Документация: </a:t>
            </a:r>
            <a:r>
              <a:rPr lang="ru" sz="1400" u="sng">
                <a:solidFill>
                  <a:schemeClr val="hlink"/>
                </a:solidFill>
                <a:hlinkClick r:id="rId3"/>
              </a:rPr>
              <a:t>https://react.dev/</a:t>
            </a:r>
            <a:r>
              <a:rPr lang="ru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VirtualDOM vs Browser DOM: </a:t>
            </a:r>
            <a:r>
              <a:rPr lang="ru" sz="1400" u="sng">
                <a:solidFill>
                  <a:schemeClr val="hlink"/>
                </a:solidFill>
                <a:hlinkClick r:id="rId4"/>
              </a:rPr>
              <a:t>https://habr.com/company/macloud/blog/558682/</a:t>
            </a:r>
            <a:r>
              <a:rPr lang="ru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Часто используемые слова в React: </a:t>
            </a:r>
            <a:r>
              <a:rPr lang="ru" sz="1400" u="sng">
                <a:solidFill>
                  <a:schemeClr val="hlink"/>
                </a:solidFill>
                <a:hlinkClick r:id="rId5"/>
              </a:rPr>
              <a:t>https://frontend-stuff.com/blog/commonly-used-words-in-react/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React-Dev-Tools: </a:t>
            </a:r>
            <a:r>
              <a:rPr lang="ru" sz="1400" u="sng">
                <a:solidFill>
                  <a:schemeClr val="hlink"/>
                </a:solidFill>
                <a:hlinkClick r:id="rId6"/>
              </a:rPr>
              <a:t>https://chrome.google.com/webstore/detail/react-developer-tools/fmkadmapgofadopljbjfkapdkoienihi</a:t>
            </a:r>
            <a:r>
              <a:rPr lang="ru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Every React Concept Explained in 12 Minutes </a:t>
            </a:r>
            <a:r>
              <a:rPr lang="ru" sz="1400" u="sng">
                <a:solidFill>
                  <a:schemeClr val="hlink"/>
                </a:solidFill>
                <a:hlinkClick r:id="rId7"/>
              </a:rPr>
              <a:t>https://www.youtube.com/watch?v=wIyHSOugGGw</a:t>
            </a:r>
            <a:r>
              <a:rPr lang="ru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React Basics in 3 minutes: </a:t>
            </a:r>
            <a:r>
              <a:rPr lang="ru" sz="1400" u="sng">
                <a:solidFill>
                  <a:schemeClr val="hlink"/>
                </a:solidFill>
                <a:hlinkClick r:id="rId8"/>
              </a:rPr>
              <a:t>https://www.youtube.com/watch?v=GrHsidFkvMw</a:t>
            </a:r>
            <a:r>
              <a:rPr lang="ru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492025" y="186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Домашнє завдання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509925" y="103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Поексперементувати із вивченим матеріалом в React - надіслати результат</a:t>
            </a:r>
            <a:endParaRPr sz="14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-"/>
            </a:pPr>
            <a:r>
              <a:rPr lang="ru" sz="1400"/>
              <a:t>Мінімум декілька взаємопов’язаних компонентів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 sz="1400"/>
              <a:t>Робота із state, props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 sz="1400"/>
              <a:t>conditional rendering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